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8" autoAdjust="0"/>
  </p:normalViewPr>
  <p:slideViewPr>
    <p:cSldViewPr snapToGrid="0">
      <p:cViewPr varScale="1">
        <p:scale>
          <a:sx n="89" d="100"/>
          <a:sy n="89" d="100"/>
        </p:scale>
        <p:origin x="437"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The goal of this presentation is to break down exactly how this project works under the hood. You'll see how we compare traditional machine learning approaches against an LLM-based pipeline.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 high level, this project is an experiment to see if LLM can act like traditional quantitative or physics models. We don't just run this once; we run the exact same experimental pattern across two completely different domains. First, we build the datasets. Then, we train a standard baseline using </a:t>
            </a:r>
            <a:r>
              <a:rPr lang="en-US" sz="1400" b="0" i="0" u="none" strike="noStrike" dirty="0" err="1">
                <a:solidFill>
                  <a:srgbClr val="000000"/>
                </a:solidFill>
              </a:rPr>
              <a:t>XGBoost</a:t>
            </a:r>
            <a:r>
              <a:rPr lang="en-US" sz="1400" b="0" i="0" u="none" strike="noStrike" dirty="0">
                <a:solidFill>
                  <a:srgbClr val="000000"/>
                </a:solidFill>
              </a:rPr>
              <a:t>. Next, we run our custom LLM pipeline. Finally, we compare the two to see where the LLM succeeds or fails.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look at the two domains we're working with. Domain A is a Power Grid, specifically an IEEE 118-bus system. This is a physics-based regression task where the model must predict exact voltage numbers. Domain B is the Financial Market, which is much more chaotic and relies on memory and momentum. Here, the task is binary classification: will the S and P 500 go up or down? By using XGBoost as our baseline for both, we set a high bar for the LLM to compete against.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This is the exact sequence of notebooks in the repository. We start with data prep to ensure no data leakage. Then we run the baselines, calculating SHAP values to understand why the model made its choices. The LLMIP phase is split into two parts: pattern discovery, where the LLM writes its own rulebook, and prediction, where it applies those rules. Finally, we have to parse all that text output back into numbers so we can do a strict, apples-to-apples evaluation against the baseline.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Diving into the first notebook, Data Preparation. The whole point of this file is to act as a bridge between the complex physics simulator outputs (which come out as deeply nested JSON files) and the flat tables that machine learning models require. Without this notebook, the data is basically unusable. It also acts as our sanity check, ensuring the power flow math actually converged before we try to train an LLM on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you can see the main logic on the left and the critical parsing code on the right. The simulation tool exports data in a very specific 'split JSON' format. The parse_df function extracts the string payload, runs json.loads, and rebuilds the Pandas DataFrame using the saved columns and indices. This one function is responsible for recovering all the bus, load, and generator tables for every single hourly sample.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Moving to the second notebook. In any experiment, you need a control group. Here, our control is </a:t>
            </a:r>
            <a:r>
              <a:rPr lang="en-US" sz="1400" b="0" i="0" u="none" strike="noStrike" dirty="0" err="1">
                <a:solidFill>
                  <a:srgbClr val="000000"/>
                </a:solidFill>
              </a:rPr>
              <a:t>XGBoost</a:t>
            </a:r>
            <a:r>
              <a:rPr lang="en-US" sz="1400" b="0" i="0" u="none" strike="noStrike" dirty="0">
                <a:solidFill>
                  <a:srgbClr val="000000"/>
                </a:solidFill>
              </a:rPr>
              <a:t>—a highly optimized, tree-based machine learning model. Because we need to predict 118 different voltages simultaneously, we're not just training one model; we're training 118 of them. We also use SHAP values here, which is crucial because it tells us exactly which power generators or features are influencing the grid the most.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is how the baseline is implemented. Notice the top right snippet: we wrap a standard XGBoost Regressor inside scikit-learn's MultiOutputRegressor. This is the trick that allows us to predict 118 outputs at once without writing 118 separate training loops. On the bottom right, you can see how we calculate SHAP values. Because we have 118 models, we have to loop through the 'estimators_' array, extract the SHAP values for each specific bus, and then average them to find the most important features globally.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we get to the core of the project: the LLM Inference Pipeline applied to the Grid. Instead of feeding data into an algorithm to adjust mathematical weights, we are feeding data into an LLM context window to generate text-based reasoning. We literally ask it to pretend to be an engineer, look at the historical data, write down the 'rules' of the grid, and then apply those rules to blind test cases.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breaks down into two main phases. In Phase 1, the LLM analyzes training data and generates an Analysis Rulebook. We then inject that Rulebook into the system prompt for Phase 2. To speed things up, we use Python's ThreadPoolExecutor—as shown in the code snippet at the bottom—to send multiple API requests to the LLM concurrently. If we predicted these sequentially, it would take hours; this cuts it down to minutes.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 biggest challenge with LLMs is that they return conversational text, not clean arrays. On the left, you can see our Regex plumbing. We have to meticulously scan the text for keywords like 'Bus 12' and 'voltage' to grab the floats. Once parsed, we align them to the true targets and calculate MAE and RMSE. Finally, we run a Replicability test—we force a completely fresh LLM session to use the generated rules to see if the logic holds up independently.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we switch from Physics to Finance. Notebook 4 sets up our financial baseline. This is a classification task, not regression. We use historical technical indicators like RSI and MACD to train an XGBoost classifier. We evaluate it using standard Accuracy and a Confusion Matrix, and again use SHAP values so we know which indicators the model relied on most to make its daily UP or DOWN calls.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pipeline execution here is standard data science. First, we strictly drop columns like 'date' and 'next_return' to prevent data leakage. The code snippet on the bottom right shows our simple XGBClassifier initialization. We use Log Loss as the evaluation metric during training. We then evaluate the resulting predictions by looking closely at the Confusion Matrix to see if the model has an inherent bias towards predicting 'UP' just because the market generally goes up over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we deploy the LLM Inference Pipeline against the stock market. We prompt the LLM to act as a Quantitative Analyst. Can it read RSI and MACD numbers in text format and accurately guess market direction? More importantly, can it explain its own reasoning by creating an IF-THEN rulebook, and then stick to those rules when tested on new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structure here closely mirrors the Grid experiment, but adapted for markets. In Phase 1, it looks at historical rows and writes qualitative patterns. In Phase 2, we ask it for a 0 or 1 prediction for blind test samples. Then comes the tricky part: in Phase 3, we force the LLM to write down exactly what rules it just used as IF-THEN statements. Finally, Phase 4 tests replicability by erasing the LLM's memory, giving it only those IF-THEN statements, and seeing if it makes the exact same choices it did in Phase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Finally, we have Notebook 6, the Synthesis phase. This file does no heavy computing; it simply loads the JSON metric files saved by the previous notebooks. It compares the Power Grid—which is predictable and stateless—against the Financial Market—which is chaotic and stateful. It generates our final tables and plots so we can actually draw conclusions about the research hypotheses.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code workflow here is essentially data aggregation. We import all four result JSONs and build a comparison matrix. We compute specific ratios, such as exactly how many times higher the LLM error is compared to the baseline. Then we use matplotlib to generate a multi-panel figure for our research paper. The notebook concludes by printing out text that directly maps our initial hypotheses against what the data actually proved.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540000"/>
            <a:ext cx="10160000" cy="1270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4200" b="1" i="0" u="none" strike="noStrike">
                <a:solidFill>
                  <a:srgbClr val="FFFFFF"/>
                </a:solidFill>
                <a:latin typeface="Inter"/>
                <a:ea typeface="Inter"/>
                <a:cs typeface="Inter"/>
                <a:sym typeface="Inter"/>
              </a:rPr>
              <a:t>LLMIP Codebase Walkthrough</a:t>
            </a:r>
            <a:endParaRPr lang="en-US" sz="1100"/>
          </a:p>
        </p:txBody>
      </p:sp>
      <p:sp>
        <p:nvSpPr>
          <p:cNvPr id="4" name="AutoShape 4"/>
          <p:cNvSpPr/>
          <p:nvPr/>
        </p:nvSpPr>
        <p:spPr>
          <a:xfrm>
            <a:off x="1016000" y="3937000"/>
            <a:ext cx="10160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2400" b="0" i="0" u="none" strike="noStrike">
                <a:solidFill>
                  <a:srgbClr val="00A3A6"/>
                </a:solidFill>
                <a:latin typeface="Inter"/>
                <a:ea typeface="Inter"/>
                <a:cs typeface="Inter"/>
                <a:sym typeface="Inter"/>
              </a:rPr>
              <a:t>Baseline ML vs LLM-based Inference Pipeline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Project Goal</a:t>
            </a:r>
            <a:endParaRPr lang="en-US" sz="1100"/>
          </a:p>
        </p:txBody>
      </p:sp>
      <p:sp>
        <p:nvSpPr>
          <p:cNvPr id="4" name="AutoShape 4"/>
          <p:cNvSpPr/>
          <p:nvPr/>
        </p:nvSpPr>
        <p:spPr>
          <a:xfrm>
            <a:off x="1016000" y="1524000"/>
            <a:ext cx="10160000" cy="4318000"/>
          </a:xfrm>
          <a:prstGeom prst="roundRect">
            <a:avLst>
              <a:gd name="adj" fmla="val 3529"/>
            </a:avLst>
          </a:prstGeom>
          <a:solidFill>
            <a:srgbClr val="FFFFFF">
              <a:alpha val="90000"/>
            </a:srgbClr>
          </a:solidFill>
          <a:ln w="25400" cap="flat" cmpd="sng">
            <a:solidFill>
              <a:srgbClr val="00A3A6">
                <a:alpha val="50000"/>
              </a:srgbClr>
            </a:solidFill>
            <a:prstDash val="solid"/>
            <a:round/>
          </a:ln>
          <a:effectLst>
            <a:outerShdw blurRad="254000" dist="127000" dir="2700000" algn="tl" rotWithShape="0">
              <a:srgbClr val="000000">
                <a:alpha val="10000"/>
              </a:srgbClr>
            </a:outerShdw>
          </a:effectLst>
        </p:spPr>
        <p:txBody>
          <a:bodyPr vert="horz" wrap="square" lIns="508000" tIns="508000" rIns="508000" bIns="0" rtlCol="0" anchor="ctr" anchorCtr="0">
            <a:normAutofit/>
          </a:bodyPr>
          <a:lstStyle/>
          <a:p>
            <a:pPr indent="0" algn="l">
              <a:lnSpc>
                <a:spcPct val="150000"/>
              </a:lnSpc>
              <a:defRPr/>
            </a:pPr>
            <a:r>
              <a:rPr lang="en-US" sz="2000" b="1" i="0" u="none" strike="noStrike">
                <a:solidFill>
                  <a:srgbClr val="00A3A6"/>
                </a:solidFill>
                <a:latin typeface="Inter"/>
                <a:ea typeface="Inter"/>
                <a:cs typeface="Inter"/>
                <a:sym typeface="Inter"/>
              </a:rPr>
              <a:t>Message:</a:t>
            </a:r>
            <a:r>
              <a:rPr lang="en-US" sz="2000" b="0" i="0" u="none" strike="noStrike">
                <a:solidFill>
                  <a:srgbClr val="263750"/>
                </a:solidFill>
                <a:latin typeface="Inter"/>
                <a:ea typeface="Inter"/>
                <a:cs typeface="Inter"/>
                <a:sym typeface="Inter"/>
              </a:rPr>
              <a:t> Same experimental pattern applied to two distinct domains.</a:t>
            </a:r>
            <a:endParaRPr lang="en-US" sz="1100"/>
          </a:p>
          <a:p>
            <a:pPr indent="0" algn="l">
              <a:lnSpc>
                <a:spcPct val="150000"/>
              </a:lnSpc>
            </a:pPr>
            <a:r>
              <a:rPr lang="en-US" sz="2000" b="0" i="0" u="none" strike="noStrike">
                <a:solidFill>
                  <a:srgbClr val="263750"/>
                </a:solidFill>
                <a:latin typeface="Inter"/>
                <a:ea typeface="Inter"/>
                <a:cs typeface="Inter"/>
                <a:sym typeface="Inter"/>
              </a:rPr>
              <a:t>The codebase systematically executes these steps: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Build ML-ready datasets from raw simulation/market data</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Train a baseline model (XGBoost) for comparison</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Run LLMIP: let an LLM infer patterns and make predictions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Compare performance and interpretability between methods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Output automated metrics, plots, and JSON summaries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The Big Picture</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263750"/>
                </a:solidFill>
                <a:latin typeface="Inter"/>
                <a:ea typeface="Inter"/>
                <a:cs typeface="Inter"/>
                <a:sym typeface="Inter"/>
              </a:rPr>
              <a:t>Testing two approaches across two fundamentally different domains.</a:t>
            </a:r>
            <a:endParaRPr lang="en-US" sz="1100"/>
          </a:p>
        </p:txBody>
      </p:sp>
      <p:sp>
        <p:nvSpPr>
          <p:cNvPr id="5" name="AutoShape 5"/>
          <p:cNvSpPr/>
          <p:nvPr/>
        </p:nvSpPr>
        <p:spPr>
          <a:xfrm>
            <a:off x="1016000" y="2032000"/>
            <a:ext cx="4826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200" b="1" i="0" u="none" strike="noStrike">
                <a:solidFill>
                  <a:srgbClr val="0B203F"/>
                </a:solidFill>
                <a:latin typeface="Inter"/>
                <a:ea typeface="Inter"/>
                <a:cs typeface="Inter"/>
                <a:sym typeface="Inter"/>
              </a:rPr>
              <a:t>Domain A: Power Grid</a:t>
            </a:r>
            <a:endParaRPr lang="en-US" sz="1100"/>
          </a:p>
          <a:p>
            <a:pPr indent="0" algn="l">
              <a:lnSpc>
                <a:spcPct val="125000"/>
              </a:lnSpc>
            </a:pPr>
            <a:r>
              <a:rPr lang="en-US" sz="1800" b="0" i="0" u="none" strike="noStrike">
                <a:solidFill>
                  <a:srgbClr val="263750"/>
                </a:solidFill>
                <a:latin typeface="Inter"/>
                <a:ea typeface="Inter"/>
                <a:cs typeface="Inter"/>
                <a:sym typeface="Inter"/>
              </a:rPr>
              <a:t>Task: </a:t>
            </a:r>
            <a:r>
              <a:rPr lang="en-US" sz="1800" b="1" i="0" u="none" strike="noStrike">
                <a:solidFill>
                  <a:srgbClr val="00A3A6"/>
                </a:solidFill>
                <a:latin typeface="Inter"/>
                <a:ea typeface="Inter"/>
                <a:cs typeface="Inter"/>
                <a:sym typeface="Inter"/>
              </a:rPr>
              <a:t>Regression</a:t>
            </a:r>
          </a:p>
          <a:p>
            <a:pPr indent="0" algn="l">
              <a:lnSpc>
                <a:spcPct val="125000"/>
              </a:lnSpc>
            </a:pPr>
            <a:r>
              <a:rPr lang="en-US" sz="1800" b="0" i="0" u="none" strike="noStrike">
                <a:solidFill>
                  <a:srgbClr val="263750"/>
                </a:solidFill>
                <a:latin typeface="Inter"/>
                <a:ea typeface="Inter"/>
                <a:cs typeface="Inter"/>
                <a:sym typeface="Inter"/>
              </a:rPr>
              <a:t>Goal: Predict voltage magnitudes for 118 buses based on physics/topology.</a:t>
            </a:r>
          </a:p>
        </p:txBody>
      </p:sp>
      <p:sp>
        <p:nvSpPr>
          <p:cNvPr id="6" name="AutoShape 6"/>
          <p:cNvSpPr/>
          <p:nvPr/>
        </p:nvSpPr>
        <p:spPr>
          <a:xfrm>
            <a:off x="6350000" y="2032000"/>
            <a:ext cx="4826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200" b="1" i="0" u="none" strike="noStrike">
                <a:solidFill>
                  <a:srgbClr val="0B203F"/>
                </a:solidFill>
                <a:latin typeface="Inter"/>
                <a:ea typeface="Inter"/>
                <a:cs typeface="Inter"/>
                <a:sym typeface="Inter"/>
              </a:rPr>
              <a:t>Domain B: Financial Market</a:t>
            </a:r>
            <a:endParaRPr lang="en-US" sz="1100"/>
          </a:p>
          <a:p>
            <a:pPr indent="0" algn="l">
              <a:lnSpc>
                <a:spcPct val="125000"/>
              </a:lnSpc>
            </a:pPr>
            <a:r>
              <a:rPr lang="en-US" sz="1800" b="0" i="0" u="none" strike="noStrike">
                <a:solidFill>
                  <a:srgbClr val="263750"/>
                </a:solidFill>
                <a:latin typeface="Inter"/>
                <a:ea typeface="Inter"/>
                <a:cs typeface="Inter"/>
                <a:sym typeface="Inter"/>
              </a:rPr>
              <a:t>Task: </a:t>
            </a:r>
            <a:r>
              <a:rPr lang="en-US" sz="1800" b="1" i="0" u="none" strike="noStrike">
                <a:solidFill>
                  <a:srgbClr val="00A3A6"/>
                </a:solidFill>
                <a:latin typeface="Inter"/>
                <a:ea typeface="Inter"/>
                <a:cs typeface="Inter"/>
                <a:sym typeface="Inter"/>
              </a:rPr>
              <a:t>Classification</a:t>
            </a:r>
          </a:p>
          <a:p>
            <a:pPr indent="0" algn="l">
              <a:lnSpc>
                <a:spcPct val="125000"/>
              </a:lnSpc>
            </a:pPr>
            <a:r>
              <a:rPr lang="en-US" sz="1800" b="0" i="0" u="none" strike="noStrike">
                <a:solidFill>
                  <a:srgbClr val="263750"/>
                </a:solidFill>
                <a:latin typeface="Inter"/>
                <a:ea typeface="Inter"/>
                <a:cs typeface="Inter"/>
                <a:sym typeface="Inter"/>
              </a:rPr>
              <a:t>Goal: Predict next-day S&amp;P 500 direction (UP/DOWN) from indicators.</a:t>
            </a:r>
          </a:p>
        </p:txBody>
      </p:sp>
      <p:sp>
        <p:nvSpPr>
          <p:cNvPr id="7" name="AutoShape 7"/>
          <p:cNvSpPr/>
          <p:nvPr/>
        </p:nvSpPr>
        <p:spPr>
          <a:xfrm>
            <a:off x="1016000" y="4318000"/>
            <a:ext cx="10160000" cy="1778000"/>
          </a:xfrm>
          <a:prstGeom prst="roundRect">
            <a:avLst>
              <a:gd name="adj" fmla="val 5714"/>
            </a:avLst>
          </a:prstGeom>
          <a:solidFill>
            <a:srgbClr val="F0F5FA">
              <a:alpha val="90000"/>
            </a:srgbClr>
          </a:solidFill>
          <a:ln w="12700" cap="flat" cmpd="sng">
            <a:solidFill>
              <a:srgbClr val="0B203F">
                <a:alpha val="2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dirty="0">
                <a:solidFill>
                  <a:srgbClr val="0B203F"/>
                </a:solidFill>
                <a:latin typeface="Inter"/>
                <a:ea typeface="Inter"/>
                <a:cs typeface="Inter"/>
                <a:sym typeface="Inter"/>
              </a:rPr>
              <a:t>Two Parallel Approaches</a:t>
            </a:r>
            <a:endParaRPr lang="en-US" sz="1100" dirty="0"/>
          </a:p>
          <a:p>
            <a:pPr marL="228600" indent="-228600" algn="l">
              <a:lnSpc>
                <a:spcPct val="125000"/>
              </a:lnSpc>
              <a:buClr>
                <a:srgbClr val="263750"/>
              </a:buClr>
              <a:buChar char="•"/>
            </a:pPr>
            <a:r>
              <a:rPr lang="en-US" sz="1800" b="1" i="0" u="none" strike="noStrike" dirty="0">
                <a:solidFill>
                  <a:srgbClr val="263750"/>
                </a:solidFill>
                <a:latin typeface="Inter"/>
                <a:ea typeface="Inter"/>
                <a:cs typeface="Inter"/>
                <a:sym typeface="Inter"/>
              </a:rPr>
              <a:t>Baseline:</a:t>
            </a:r>
            <a:r>
              <a:rPr lang="en-US" sz="1800" b="0" i="0" u="none" strike="noStrike" dirty="0">
                <a:solidFill>
                  <a:srgbClr val="263750"/>
                </a:solidFill>
                <a:latin typeface="Inter"/>
                <a:ea typeface="Inter"/>
                <a:cs typeface="Inter"/>
                <a:sym typeface="Inter"/>
              </a:rPr>
              <a:t> </a:t>
            </a:r>
            <a:r>
              <a:rPr lang="en-US" sz="1800" b="0" i="0" u="none" strike="noStrike" dirty="0" err="1">
                <a:solidFill>
                  <a:srgbClr val="263750"/>
                </a:solidFill>
                <a:latin typeface="Inter"/>
                <a:ea typeface="Inter"/>
                <a:cs typeface="Inter"/>
                <a:sym typeface="Inter"/>
              </a:rPr>
              <a:t>XGBoost</a:t>
            </a:r>
            <a:r>
              <a:rPr lang="en-US" sz="1800" b="0" i="0" u="none" strike="noStrike" dirty="0">
                <a:solidFill>
                  <a:srgbClr val="263750"/>
                </a:solidFill>
                <a:latin typeface="Inter"/>
                <a:ea typeface="Inter"/>
                <a:cs typeface="Inter"/>
                <a:sym typeface="Inter"/>
              </a:rPr>
              <a:t> models + SHAP for feature explanations.</a:t>
            </a:r>
          </a:p>
          <a:p>
            <a:pPr marL="228600" indent="-228600">
              <a:lnSpc>
                <a:spcPct val="125000"/>
              </a:lnSpc>
              <a:buClr>
                <a:srgbClr val="263750"/>
              </a:buClr>
              <a:buChar char="•"/>
            </a:pPr>
            <a:r>
              <a:rPr lang="en-US" sz="1800" b="1" i="0" u="none" strike="noStrike" dirty="0">
                <a:solidFill>
                  <a:srgbClr val="263750"/>
                </a:solidFill>
                <a:latin typeface="Inter"/>
                <a:ea typeface="Inter"/>
                <a:cs typeface="Inter"/>
                <a:sym typeface="Inter"/>
              </a:rPr>
              <a:t>LLMIP:</a:t>
            </a:r>
            <a:r>
              <a:rPr lang="en-US" sz="1800" b="0" i="0" u="none" strike="noStrike" dirty="0">
                <a:solidFill>
                  <a:srgbClr val="263750"/>
                </a:solidFill>
                <a:latin typeface="Inter"/>
                <a:ea typeface="Inter"/>
                <a:cs typeface="Inter"/>
                <a:sym typeface="Inter"/>
              </a:rPr>
              <a:t> In-context learning (LLM learns rules from examples -&gt; predicts </a:t>
            </a:r>
            <a:r>
              <a:rPr lang="en-US" sz="1800" dirty="0">
                <a:solidFill>
                  <a:srgbClr val="263750"/>
                </a:solidFill>
                <a:latin typeface="Inter"/>
                <a:ea typeface="Inter"/>
                <a:cs typeface="Inter"/>
                <a:sym typeface="Inter"/>
              </a:rPr>
              <a:t>-&gt;</a:t>
            </a:r>
            <a:r>
              <a:rPr lang="en-US" sz="1800" b="0" i="0" u="none" strike="noStrike" dirty="0">
                <a:solidFill>
                  <a:srgbClr val="263750"/>
                </a:solidFill>
                <a:latin typeface="Inter"/>
                <a:ea typeface="Inter"/>
                <a:cs typeface="Inter"/>
                <a:sym typeface="Inter"/>
              </a:rPr>
              <a:t> extracts rulebook).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End-to-End Workflow</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A unified pipeline across both domains.</a:t>
            </a:r>
            <a:endParaRPr lang="en-US" sz="1100"/>
          </a:p>
        </p:txBody>
      </p:sp>
      <p:sp>
        <p:nvSpPr>
          <p:cNvPr id="5" name="AutoShape 5"/>
          <p:cNvSpPr/>
          <p:nvPr/>
        </p:nvSpPr>
        <p:spPr>
          <a:xfrm>
            <a:off x="1016000" y="2032000"/>
            <a:ext cx="10160000" cy="4064000"/>
          </a:xfrm>
          <a:prstGeom prst="roundRect">
            <a:avLst>
              <a:gd name="adj" fmla="val 3750"/>
            </a:avLst>
          </a:prstGeom>
          <a:solidFill>
            <a:srgbClr val="FFFFFF">
              <a:alpha val="90000"/>
            </a:srgbClr>
          </a:solidFill>
          <a:ln w="25400" cap="flat" cmpd="sng">
            <a:solidFill>
              <a:srgbClr val="00A3A6">
                <a:alpha val="30000"/>
              </a:srgbClr>
            </a:solidFill>
            <a:prstDash val="solid"/>
            <a:round/>
          </a:ln>
        </p:spPr>
        <p:txBody>
          <a:bodyPr vert="horz" wrap="square" lIns="381000" tIns="381000" rIns="381000" bIns="0" rtlCol="0" anchor="ctr" anchorCtr="0">
            <a:normAutofit/>
          </a:bodyPr>
          <a:lstStyle/>
          <a:p>
            <a:pPr marL="228600" indent="-228600" algn="l">
              <a:lnSpc>
                <a:spcPct val="133333"/>
              </a:lnSpc>
              <a:buClr>
                <a:srgbClr val="263750"/>
              </a:buClr>
              <a:buFont typeface="+mj-lt"/>
              <a:buAutoNum type="arabicPeriod"/>
              <a:defRPr/>
            </a:pPr>
            <a:r>
              <a:rPr lang="en-US" sz="1800" b="1" i="0" u="none" strike="noStrike">
                <a:solidFill>
                  <a:srgbClr val="263750"/>
                </a:solidFill>
                <a:latin typeface="Inter"/>
                <a:ea typeface="Inter"/>
                <a:cs typeface="Inter"/>
                <a:sym typeface="Inter"/>
              </a:rPr>
              <a:t>Read &amp; Prepare:</a:t>
            </a:r>
            <a:r>
              <a:rPr lang="en-US" sz="1800" b="0" i="0" u="none" strike="noStrike">
                <a:solidFill>
                  <a:srgbClr val="263750"/>
                </a:solidFill>
                <a:latin typeface="Inter"/>
                <a:ea typeface="Inter"/>
                <a:cs typeface="Inter"/>
                <a:sym typeface="Inter"/>
              </a:rPr>
              <a:t> Load raw JSON/CSV, drop leaks, and split train/test datasets.</a:t>
            </a:r>
            <a:endParaRPr lang="en-US" sz="1100"/>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Baseline Runs:</a:t>
            </a:r>
            <a:r>
              <a:rPr lang="en-US" sz="1800" b="0" i="0" u="none" strike="noStrike">
                <a:solidFill>
                  <a:srgbClr val="263750"/>
                </a:solidFill>
                <a:latin typeface="Inter"/>
                <a:ea typeface="Inter"/>
                <a:cs typeface="Inter"/>
                <a:sym typeface="Inter"/>
              </a:rPr>
              <a:t> Train XGBoost (Regressor or Classifier), compute initial error/accuracy.</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Baseline Explanations:</a:t>
            </a:r>
            <a:r>
              <a:rPr lang="en-US" sz="1800" b="0" i="0" u="none" strike="noStrike">
                <a:solidFill>
                  <a:srgbClr val="263750"/>
                </a:solidFill>
                <a:latin typeface="Inter"/>
                <a:ea typeface="Inter"/>
                <a:cs typeface="Inter"/>
                <a:sym typeface="Inter"/>
              </a:rPr>
              <a:t> Compute SHAP values to identify key feature drivers.</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LLMIP Phase 1 (Pattern Discovery):</a:t>
            </a:r>
            <a:r>
              <a:rPr lang="en-US" sz="1800" b="0" i="0" u="none" strike="noStrike">
                <a:solidFill>
                  <a:srgbClr val="263750"/>
                </a:solidFill>
                <a:latin typeface="Inter"/>
                <a:ea typeface="Inter"/>
                <a:cs typeface="Inter"/>
                <a:sym typeface="Inter"/>
              </a:rPr>
              <a:t> Feed training examples to LLM to extract logic.</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LLMIP Phase 2 (Predictions):</a:t>
            </a:r>
            <a:r>
              <a:rPr lang="en-US" sz="1800" b="0" i="0" u="none" strike="noStrike">
                <a:solidFill>
                  <a:srgbClr val="263750"/>
                </a:solidFill>
                <a:latin typeface="Inter"/>
                <a:ea typeface="Inter"/>
                <a:cs typeface="Inter"/>
                <a:sym typeface="Inter"/>
              </a:rPr>
              <a:t> Query LLM with Phase 1 logic for parallelized predictions.</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Parsing:</a:t>
            </a:r>
            <a:r>
              <a:rPr lang="en-US" sz="1800" b="0" i="0" u="none" strike="noStrike">
                <a:solidFill>
                  <a:srgbClr val="263750"/>
                </a:solidFill>
                <a:latin typeface="Inter"/>
                <a:ea typeface="Inter"/>
                <a:cs typeface="Inter"/>
                <a:sym typeface="Inter"/>
              </a:rPr>
              <a:t> Regex text-based LLM responses into structured arrays.</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Evaluation:</a:t>
            </a:r>
            <a:r>
              <a:rPr lang="en-US" sz="1800" b="0" i="0" u="none" strike="noStrike">
                <a:solidFill>
                  <a:srgbClr val="263750"/>
                </a:solidFill>
                <a:latin typeface="Inter"/>
                <a:ea typeface="Inter"/>
                <a:cs typeface="Inter"/>
                <a:sym typeface="Inter"/>
              </a:rPr>
              <a:t> Calculate final metrics (MAE/RMSE for grid, Accuracy/Confusion for finance).</a:t>
            </a:r>
          </a:p>
          <a:p>
            <a:pPr marL="228600" indent="-228600" algn="l">
              <a:lnSpc>
                <a:spcPct val="133333"/>
              </a:lnSpc>
              <a:buClr>
                <a:srgbClr val="263750"/>
              </a:buClr>
              <a:buFont typeface="+mj-lt"/>
              <a:buAutoNum type="arabicPeriod"/>
            </a:pPr>
            <a:r>
              <a:rPr lang="en-US" sz="1800" b="1" i="0" u="none" strike="noStrike">
                <a:solidFill>
                  <a:srgbClr val="263750"/>
                </a:solidFill>
                <a:latin typeface="Inter"/>
                <a:ea typeface="Inter"/>
                <a:cs typeface="Inter"/>
                <a:sym typeface="Inter"/>
              </a:rPr>
              <a:t>Comparison:</a:t>
            </a:r>
            <a:r>
              <a:rPr lang="en-US" sz="1800" b="0" i="0" u="none" strike="noStrike">
                <a:solidFill>
                  <a:srgbClr val="263750"/>
                </a:solidFill>
                <a:latin typeface="Inter"/>
                <a:ea typeface="Inter"/>
                <a:cs typeface="Inter"/>
                <a:sym typeface="Inter"/>
              </a:rPr>
              <a:t> Aggregate outputs, compare baseline vs LLMIP, measure replicability.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01 Data Preparation</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fontScale="92500" lnSpcReduction="10000"/>
          </a:bodyPr>
          <a:lstStyle/>
          <a:p>
            <a:pPr indent="0" algn="l">
              <a:lnSpc>
                <a:spcPct val="150000"/>
              </a:lnSpc>
              <a:defRPr/>
            </a:pPr>
            <a:r>
              <a:rPr lang="en-US" sz="2400" b="1" i="0" u="none" strike="noStrike">
                <a:solidFill>
                  <a:srgbClr val="263750"/>
                </a:solidFill>
                <a:latin typeface="Inter"/>
                <a:ea typeface="Inter"/>
                <a:cs typeface="Inter"/>
                <a:sym typeface="Inter"/>
              </a:rPr>
              <a:t>Goal: Turn messy simulation output into ML-ready data.</a:t>
            </a:r>
            <a:endParaRPr lang="en-US" sz="1100"/>
          </a:p>
          <a:p>
            <a:pPr indent="0" algn="l">
              <a:lnSpc>
                <a:spcPct val="150000"/>
              </a:lnSpc>
            </a:pPr>
            <a:r>
              <a:rPr lang="en-US" sz="2000" b="0" i="0" u="none" strike="noStrike">
                <a:solidFill>
                  <a:srgbClr val="263750"/>
                </a:solidFill>
                <a:latin typeface="Inter"/>
                <a:ea typeface="Inter"/>
                <a:cs typeface="Inter"/>
                <a:sym typeface="Inter"/>
              </a:rPr>
              <a:t>The notebook bridges raw physics simulation and structured ML formats by:</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Inventorying raw IEEE 118-bus hourly simulation JSONs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Loading grid topography (buses, generators, loads) from CSVs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Parsing deeply nested JSON strings into flat Pandas DataFrames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Validating that the power flow mathematically converged</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Saving cleaned features, targets, and dataset metadata statistics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01 Data Preparation</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a:t>
            </a:r>
            <a:endParaRPr lang="en-US" sz="1100"/>
          </a:p>
        </p:txBody>
      </p:sp>
      <p:sp>
        <p:nvSpPr>
          <p:cNvPr id="5" name="AutoShape 5"/>
          <p:cNvSpPr/>
          <p:nvPr/>
        </p:nvSpPr>
        <p:spPr>
          <a:xfrm>
            <a:off x="1016000" y="2032000"/>
            <a:ext cx="5715000" cy="4064000"/>
          </a:xfrm>
          <a:prstGeom prst="roundRect">
            <a:avLst>
              <a:gd name="adj" fmla="val 2500"/>
            </a:avLst>
          </a:prstGeom>
          <a:solidFill>
            <a:srgbClr val="FFFFFF">
              <a:alpha val="90000"/>
            </a:srgbClr>
          </a:solidFill>
          <a:ln w="25400" cap="flat" cmpd="sng">
            <a:noFill/>
            <a:prstDash val="solid"/>
            <a:round/>
          </a:ln>
        </p:spPr>
        <p:txBody>
          <a:bodyPr vert="horz" wrap="square" lIns="381000" tIns="381000" rIns="381000" bIns="0" rtlCol="0" anchor="ctr" anchorCtr="0">
            <a:normAutofit/>
          </a:bodyPr>
          <a:lstStyle/>
          <a:p>
            <a:pPr indent="0" algn="l">
              <a:lnSpc>
                <a:spcPct val="133333"/>
              </a:lnSpc>
              <a:defRPr/>
            </a:pPr>
            <a:r>
              <a:rPr lang="en-US" sz="1800" b="1" i="0" u="none" strike="noStrike" dirty="0">
                <a:solidFill>
                  <a:srgbClr val="0B203F"/>
                </a:solidFill>
                <a:latin typeface="Inter"/>
                <a:ea typeface="Inter"/>
                <a:cs typeface="Inter"/>
                <a:sym typeface="Inter"/>
              </a:rPr>
              <a:t>Main Logic Steps:</a:t>
            </a:r>
            <a:endParaRPr lang="en-US" sz="1100" dirty="0"/>
          </a:p>
          <a:p>
            <a:pPr marL="228600" indent="-228600" algn="l">
              <a:lnSpc>
                <a:spcPct val="133333"/>
              </a:lnSpc>
              <a:buClr>
                <a:srgbClr val="263750"/>
              </a:buClr>
              <a:buChar char="•"/>
            </a:pPr>
            <a:r>
              <a:rPr lang="en-US" sz="1800" b="0" i="0" u="none" strike="noStrike" dirty="0">
                <a:solidFill>
                  <a:srgbClr val="263750"/>
                </a:solidFill>
                <a:latin typeface="Inter"/>
                <a:ea typeface="Inter"/>
                <a:cs typeface="Inter"/>
                <a:sym typeface="Inter"/>
              </a:rPr>
              <a:t>Set paths to </a:t>
            </a:r>
            <a:r>
              <a:rPr lang="en-US" sz="1800" b="0" i="0" u="none" strike="noStrike" dirty="0">
                <a:solidFill>
                  <a:srgbClr val="00A3A6"/>
                </a:solidFill>
                <a:latin typeface="Courier New"/>
                <a:ea typeface="Courier New"/>
                <a:cs typeface="Courier New"/>
                <a:sym typeface="Courier New"/>
              </a:rPr>
              <a:t>data/grid</a:t>
            </a:r>
            <a:r>
              <a:rPr lang="en-US" sz="1800" b="0" i="0" u="none" strike="noStrike" dirty="0">
                <a:solidFill>
                  <a:srgbClr val="263750"/>
                </a:solidFill>
                <a:latin typeface="Inter"/>
                <a:ea typeface="Inter"/>
                <a:cs typeface="Inter"/>
                <a:sym typeface="Inter"/>
              </a:rPr>
              <a:t> and output directories.</a:t>
            </a:r>
          </a:p>
          <a:p>
            <a:pPr marL="228600" indent="-228600" algn="l">
              <a:lnSpc>
                <a:spcPct val="133333"/>
              </a:lnSpc>
              <a:buClr>
                <a:srgbClr val="263750"/>
              </a:buClr>
              <a:buChar char="•"/>
            </a:pPr>
            <a:r>
              <a:rPr lang="en-US" sz="1800" b="0" i="0" u="none" strike="noStrike" dirty="0">
                <a:solidFill>
                  <a:srgbClr val="263750"/>
                </a:solidFill>
                <a:latin typeface="Inter"/>
                <a:ea typeface="Inter"/>
                <a:cs typeface="Inter"/>
                <a:sym typeface="Inter"/>
              </a:rPr>
              <a:t>Scan JSONs to verify file counts and sizes.</a:t>
            </a:r>
          </a:p>
          <a:p>
            <a:pPr marL="228600" indent="-228600" algn="l">
              <a:lnSpc>
                <a:spcPct val="133333"/>
              </a:lnSpc>
              <a:buClr>
                <a:srgbClr val="263750"/>
              </a:buClr>
              <a:buChar char="•"/>
            </a:pPr>
            <a:r>
              <a:rPr lang="en-US" sz="1800" b="0" i="0" u="none" strike="noStrike" dirty="0">
                <a:solidFill>
                  <a:srgbClr val="263750"/>
                </a:solidFill>
                <a:latin typeface="Inter"/>
                <a:ea typeface="Inter"/>
                <a:cs typeface="Inter"/>
                <a:sym typeface="Inter"/>
              </a:rPr>
              <a:t>Identify grid topography (e.g., Slack bus).</a:t>
            </a:r>
          </a:p>
          <a:p>
            <a:pPr marL="228600" indent="-228600" algn="l">
              <a:lnSpc>
                <a:spcPct val="133333"/>
              </a:lnSpc>
              <a:buClr>
                <a:srgbClr val="263750"/>
              </a:buClr>
              <a:buChar char="•"/>
            </a:pPr>
            <a:r>
              <a:rPr lang="en-US" sz="1800" b="0" i="0" u="none" strike="noStrike" dirty="0">
                <a:solidFill>
                  <a:srgbClr val="263750"/>
                </a:solidFill>
                <a:latin typeface="Inter"/>
                <a:ea typeface="Inter"/>
                <a:cs typeface="Inter"/>
                <a:sym typeface="Inter"/>
              </a:rPr>
              <a:t>Extract core components from JSON (Bus results, Generator results).</a:t>
            </a:r>
          </a:p>
          <a:p>
            <a:pPr marL="228600" indent="-228600" algn="l">
              <a:lnSpc>
                <a:spcPct val="133333"/>
              </a:lnSpc>
              <a:buClr>
                <a:srgbClr val="263750"/>
              </a:buClr>
              <a:buChar char="•"/>
            </a:pPr>
            <a:r>
              <a:rPr lang="en-US" sz="1800" b="0" i="0" u="none" strike="noStrike" dirty="0">
                <a:solidFill>
                  <a:srgbClr val="263750"/>
                </a:solidFill>
                <a:latin typeface="Inter"/>
                <a:ea typeface="Inter"/>
                <a:cs typeface="Inter"/>
                <a:sym typeface="Inter"/>
              </a:rPr>
              <a:t>Check physics: does voltage magnitude stay in [0.8, 1.2] </a:t>
            </a:r>
            <a:r>
              <a:rPr lang="en-US" sz="1800" b="0" i="0" u="none" strike="noStrike" dirty="0" err="1">
                <a:solidFill>
                  <a:srgbClr val="263750"/>
                </a:solidFill>
                <a:latin typeface="Inter"/>
                <a:ea typeface="Inter"/>
                <a:cs typeface="Inter"/>
                <a:sym typeface="Inter"/>
              </a:rPr>
              <a:t>pu</a:t>
            </a:r>
            <a:r>
              <a:rPr lang="en-US" sz="1800" b="0" i="0" u="none" strike="noStrike" dirty="0">
                <a:solidFill>
                  <a:srgbClr val="263750"/>
                </a:solidFill>
                <a:latin typeface="Inter"/>
                <a:ea typeface="Inter"/>
                <a:cs typeface="Inter"/>
                <a:sym typeface="Inter"/>
              </a:rPr>
              <a:t>?</a:t>
            </a:r>
          </a:p>
        </p:txBody>
      </p:sp>
      <p:sp>
        <p:nvSpPr>
          <p:cNvPr id="6" name="AutoShape 6"/>
          <p:cNvSpPr/>
          <p:nvPr/>
        </p:nvSpPr>
        <p:spPr>
          <a:xfrm>
            <a:off x="6985000" y="2032000"/>
            <a:ext cx="4191000" cy="4064000"/>
          </a:xfrm>
          <a:prstGeom prst="roundRect">
            <a:avLst>
              <a:gd name="adj" fmla="val 2500"/>
            </a:avLst>
          </a:prstGeom>
          <a:solidFill>
            <a:srgbClr val="0B203F">
              <a:alpha val="100000"/>
            </a:srgbClr>
          </a:solidFill>
          <a:ln w="25400" cap="flat" cmpd="sng">
            <a:noFill/>
            <a:prstDash val="solid"/>
            <a:round/>
          </a:ln>
        </p:spPr>
        <p:txBody>
          <a:bodyPr vert="horz" wrap="square" lIns="254000" tIns="381000" rIns="254000" bIns="0" rtlCol="0" anchor="ctr" anchorCtr="0">
            <a:normAutofit/>
          </a:bodyPr>
          <a:lstStyle/>
          <a:p>
            <a:pPr indent="0" algn="l">
              <a:lnSpc>
                <a:spcPct val="116666"/>
              </a:lnSpc>
              <a:defRPr/>
            </a:pPr>
            <a:r>
              <a:rPr lang="en-US" sz="1400" b="0" i="0" u="none" strike="noStrike" dirty="0">
                <a:solidFill>
                  <a:srgbClr val="64C864"/>
                </a:solidFill>
                <a:latin typeface="Courier New"/>
                <a:ea typeface="Courier New"/>
                <a:cs typeface="Courier New"/>
                <a:sym typeface="Courier New"/>
              </a:rPr>
              <a:t>def</a:t>
            </a:r>
            <a:r>
              <a:rPr lang="en-US" sz="1400" b="0" i="0" u="none" strike="noStrike" dirty="0">
                <a:solidFill>
                  <a:srgbClr val="E6F0FF"/>
                </a:solidFill>
                <a:latin typeface="Courier New"/>
                <a:ea typeface="Courier New"/>
                <a:cs typeface="Courier New"/>
                <a:sym typeface="Courier New"/>
              </a:rPr>
              <a:t> </a:t>
            </a:r>
            <a:r>
              <a:rPr lang="en-US" sz="1400" b="0" i="0" u="none" strike="noStrike" dirty="0" err="1">
                <a:solidFill>
                  <a:srgbClr val="C8C864"/>
                </a:solidFill>
                <a:latin typeface="Courier New"/>
                <a:ea typeface="Courier New"/>
                <a:cs typeface="Courier New"/>
                <a:sym typeface="Courier New"/>
              </a:rPr>
              <a:t>parse_df</a:t>
            </a:r>
            <a:r>
              <a:rPr lang="en-US" sz="1400" b="0" i="0" u="none" strike="noStrike" dirty="0">
                <a:solidFill>
                  <a:srgbClr val="E6F0FF"/>
                </a:solidFill>
                <a:latin typeface="Courier New"/>
                <a:ea typeface="Courier New"/>
                <a:cs typeface="Courier New"/>
                <a:sym typeface="Courier New"/>
              </a:rPr>
              <a:t>(raw, key):</a:t>
            </a:r>
            <a:endParaRPr lang="en-US" sz="1100" dirty="0"/>
          </a:p>
          <a:p>
            <a:pPr indent="0" algn="l">
              <a:lnSpc>
                <a:spcPct val="116666"/>
              </a:lnSpc>
            </a:pPr>
            <a:r>
              <a:rPr lang="en-US" sz="1400" b="0" i="0" u="none" strike="noStrike" dirty="0">
                <a:solidFill>
                  <a:srgbClr val="E6F0FF"/>
                </a:solidFill>
                <a:latin typeface="Courier New"/>
                <a:ea typeface="Courier New"/>
                <a:cs typeface="Courier New"/>
                <a:sym typeface="Courier New"/>
              </a:rPr>
              <a:t>    </a:t>
            </a:r>
            <a:r>
              <a:rPr lang="en-US" sz="1400" b="0" i="0" u="none" strike="noStrike" dirty="0">
                <a:solidFill>
                  <a:srgbClr val="969696"/>
                </a:solidFill>
                <a:latin typeface="Courier New"/>
                <a:ea typeface="Courier New"/>
                <a:cs typeface="Courier New"/>
                <a:sym typeface="Courier New"/>
              </a:rPr>
              <a:t>"""Parse a </a:t>
            </a:r>
            <a:r>
              <a:rPr lang="en-US" sz="1400" b="0" i="0" u="none" strike="noStrike" dirty="0" err="1">
                <a:solidFill>
                  <a:srgbClr val="969696"/>
                </a:solidFill>
                <a:latin typeface="Courier New"/>
                <a:ea typeface="Courier New"/>
                <a:cs typeface="Courier New"/>
                <a:sym typeface="Courier New"/>
              </a:rPr>
              <a:t>DataFrame</a:t>
            </a:r>
            <a:r>
              <a:rPr lang="en-US" sz="1400" b="0" i="0" u="none" strike="noStrike" dirty="0">
                <a:solidFill>
                  <a:srgbClr val="969696"/>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obj = raw[</a:t>
            </a:r>
            <a:r>
              <a:rPr lang="en-US" sz="1400" b="0" i="0" u="none" strike="noStrike" dirty="0">
                <a:solidFill>
                  <a:srgbClr val="C89664"/>
                </a:solidFill>
                <a:latin typeface="Courier New"/>
                <a:ea typeface="Courier New"/>
                <a:cs typeface="Courier New"/>
                <a:sym typeface="Courier New"/>
              </a:rPr>
              <a:t>'_object'</a:t>
            </a:r>
            <a:r>
              <a:rPr lang="en-US" sz="1400" b="0" i="0" u="none" strike="noStrike" dirty="0">
                <a:solidFill>
                  <a:srgbClr val="E6F0FF"/>
                </a:solidFill>
                <a:latin typeface="Courier New"/>
                <a:ea typeface="Courier New"/>
                <a:cs typeface="Courier New"/>
                <a:sym typeface="Courier New"/>
              </a:rPr>
              <a:t>].get(key, {})</a:t>
            </a:r>
          </a:p>
          <a:p>
            <a:pPr indent="0" algn="l">
              <a:lnSpc>
                <a:spcPct val="116666"/>
              </a:lnSpc>
            </a:pPr>
            <a:r>
              <a:rPr lang="en-US" sz="1400" b="0" i="0" u="none" strike="noStrike" dirty="0">
                <a:solidFill>
                  <a:srgbClr val="E6F0FF"/>
                </a:solidFill>
                <a:latin typeface="Courier New"/>
                <a:ea typeface="Courier New"/>
                <a:cs typeface="Courier New"/>
                <a:sym typeface="Courier New"/>
              </a:rPr>
              <a:t>s = obj[</a:t>
            </a:r>
            <a:r>
              <a:rPr lang="en-US" sz="1400" b="0" i="0" u="none" strike="noStrike" dirty="0">
                <a:solidFill>
                  <a:srgbClr val="C89664"/>
                </a:solidFill>
                <a:latin typeface="Courier New"/>
                <a:ea typeface="Courier New"/>
                <a:cs typeface="Courier New"/>
                <a:sym typeface="Courier New"/>
              </a:rPr>
              <a:t>'_object'</a:t>
            </a: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d = </a:t>
            </a:r>
            <a:r>
              <a:rPr lang="en-US" sz="1400" b="0" i="0" u="none" strike="noStrike" dirty="0" err="1">
                <a:solidFill>
                  <a:srgbClr val="E6F0FF"/>
                </a:solidFill>
                <a:latin typeface="Courier New"/>
                <a:ea typeface="Courier New"/>
                <a:cs typeface="Courier New"/>
                <a:sym typeface="Courier New"/>
              </a:rPr>
              <a:t>json.loads</a:t>
            </a:r>
            <a:r>
              <a:rPr lang="en-US" sz="1400" b="0" i="0" u="none" strike="noStrike" dirty="0">
                <a:solidFill>
                  <a:srgbClr val="E6F0FF"/>
                </a:solidFill>
                <a:latin typeface="Courier New"/>
                <a:ea typeface="Courier New"/>
                <a:cs typeface="Courier New"/>
                <a:sym typeface="Courier New"/>
              </a:rPr>
              <a:t>(s)</a:t>
            </a:r>
          </a:p>
          <a:p>
            <a:pPr indent="0" algn="l">
              <a:lnSpc>
                <a:spcPct val="116666"/>
              </a:lnSpc>
            </a:pPr>
            <a:r>
              <a:rPr lang="en-US" sz="1400" b="0" i="0" u="none" strike="noStrike" dirty="0">
                <a:solidFill>
                  <a:srgbClr val="E6F0FF"/>
                </a:solidFill>
                <a:latin typeface="Courier New"/>
                <a:ea typeface="Courier New"/>
                <a:cs typeface="Courier New"/>
                <a:sym typeface="Courier New"/>
              </a:rPr>
              <a:t>    </a:t>
            </a:r>
            <a:r>
              <a:rPr lang="en-US" sz="1400" b="0" i="0" u="none" strike="noStrike" dirty="0">
                <a:solidFill>
                  <a:srgbClr val="64C864"/>
                </a:solidFill>
                <a:latin typeface="Courier New"/>
                <a:ea typeface="Courier New"/>
                <a:cs typeface="Courier New"/>
                <a:sym typeface="Courier New"/>
              </a:rPr>
              <a:t>return</a:t>
            </a:r>
            <a:r>
              <a:rPr lang="en-US" sz="1400" b="0" i="0" u="none" strike="noStrike" dirty="0">
                <a:solidFill>
                  <a:srgbClr val="E6F0FF"/>
                </a:solidFill>
                <a:latin typeface="Courier New"/>
                <a:ea typeface="Courier New"/>
                <a:cs typeface="Courier New"/>
                <a:sym typeface="Courier New"/>
              </a:rPr>
              <a:t> </a:t>
            </a:r>
            <a:r>
              <a:rPr lang="en-US" sz="1400" b="0" i="0" u="none" strike="noStrike" dirty="0" err="1">
                <a:solidFill>
                  <a:srgbClr val="E6F0FF"/>
                </a:solidFill>
                <a:latin typeface="Courier New"/>
                <a:ea typeface="Courier New"/>
                <a:cs typeface="Courier New"/>
                <a:sym typeface="Courier New"/>
              </a:rPr>
              <a:t>pd.DataFrame</a:t>
            </a: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d[</a:t>
            </a:r>
            <a:r>
              <a:rPr lang="en-US" sz="1400" b="0" i="0" u="none" strike="noStrike" dirty="0">
                <a:solidFill>
                  <a:srgbClr val="C89664"/>
                </a:solidFill>
                <a:latin typeface="Courier New"/>
                <a:ea typeface="Courier New"/>
                <a:cs typeface="Courier New"/>
                <a:sym typeface="Courier New"/>
              </a:rPr>
              <a:t>'data'</a:t>
            </a: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columns=d[</a:t>
            </a:r>
            <a:r>
              <a:rPr lang="en-US" sz="1400" b="0" i="0" u="none" strike="noStrike" dirty="0">
                <a:solidFill>
                  <a:srgbClr val="C89664"/>
                </a:solidFill>
                <a:latin typeface="Courier New"/>
                <a:ea typeface="Courier New"/>
                <a:cs typeface="Courier New"/>
                <a:sym typeface="Courier New"/>
              </a:rPr>
              <a:t>'columns'</a:t>
            </a: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index=d[</a:t>
            </a:r>
            <a:r>
              <a:rPr lang="en-US" sz="1400" b="0" i="0" u="none" strike="noStrike" dirty="0">
                <a:solidFill>
                  <a:srgbClr val="C89664"/>
                </a:solidFill>
                <a:latin typeface="Courier New"/>
                <a:ea typeface="Courier New"/>
                <a:cs typeface="Courier New"/>
                <a:sym typeface="Courier New"/>
              </a:rPr>
              <a:t>'index'</a:t>
            </a: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E6F0FF"/>
                </a:solidFill>
                <a:latin typeface="Courier New"/>
                <a:ea typeface="Courier New"/>
                <a:cs typeface="Courier New"/>
                <a:sym typeface="Courier New"/>
              </a:rPr>
              <a:t>)</a:t>
            </a:r>
          </a:p>
          <a:p>
            <a:pPr indent="0" algn="l">
              <a:lnSpc>
                <a:spcPct val="116666"/>
              </a:lnSpc>
            </a:pPr>
            <a:r>
              <a:rPr lang="en-US" sz="1400" b="0" i="0" u="none" strike="noStrike" dirty="0">
                <a:solidFill>
                  <a:srgbClr val="969696"/>
                </a:solidFill>
                <a:latin typeface="Courier New"/>
                <a:ea typeface="Courier New"/>
                <a:cs typeface="Courier New"/>
                <a:sym typeface="Courier New"/>
              </a:rPr>
              <a:t># Extract tables</a:t>
            </a:r>
          </a:p>
          <a:p>
            <a:pPr indent="0" algn="l">
              <a:lnSpc>
                <a:spcPct val="116666"/>
              </a:lnSpc>
            </a:pPr>
            <a:r>
              <a:rPr lang="en-US" sz="1400" b="0" i="0" u="none" strike="noStrike" dirty="0" err="1">
                <a:solidFill>
                  <a:srgbClr val="E6F0FF"/>
                </a:solidFill>
                <a:latin typeface="Courier New"/>
                <a:ea typeface="Courier New"/>
                <a:cs typeface="Courier New"/>
                <a:sym typeface="Courier New"/>
              </a:rPr>
              <a:t>res_bus</a:t>
            </a:r>
            <a:r>
              <a:rPr lang="en-US" sz="1400" b="0" i="0" u="none" strike="noStrike" dirty="0">
                <a:solidFill>
                  <a:srgbClr val="E6F0FF"/>
                </a:solidFill>
                <a:latin typeface="Courier New"/>
                <a:ea typeface="Courier New"/>
                <a:cs typeface="Courier New"/>
                <a:sym typeface="Courier New"/>
              </a:rPr>
              <a:t> = </a:t>
            </a:r>
            <a:r>
              <a:rPr lang="en-US" sz="1400" b="0" i="0" u="none" strike="noStrike" dirty="0" err="1">
                <a:solidFill>
                  <a:srgbClr val="E6F0FF"/>
                </a:solidFill>
                <a:latin typeface="Courier New"/>
                <a:ea typeface="Courier New"/>
                <a:cs typeface="Courier New"/>
                <a:sym typeface="Courier New"/>
              </a:rPr>
              <a:t>parse_df</a:t>
            </a:r>
            <a:r>
              <a:rPr lang="en-US" sz="1400" b="0" i="0" u="none" strike="noStrike" dirty="0">
                <a:solidFill>
                  <a:srgbClr val="E6F0FF"/>
                </a:solidFill>
                <a:latin typeface="Courier New"/>
                <a:ea typeface="Courier New"/>
                <a:cs typeface="Courier New"/>
                <a:sym typeface="Courier New"/>
              </a:rPr>
              <a:t>(raw, </a:t>
            </a:r>
            <a:r>
              <a:rPr lang="en-US" sz="1400" b="0" i="0" u="none" strike="noStrike" dirty="0">
                <a:solidFill>
                  <a:srgbClr val="C89664"/>
                </a:solidFill>
                <a:latin typeface="Courier New"/>
                <a:ea typeface="Courier New"/>
                <a:cs typeface="Courier New"/>
                <a:sym typeface="Courier New"/>
              </a:rPr>
              <a:t>'</a:t>
            </a:r>
            <a:r>
              <a:rPr lang="en-US" sz="1400" b="0" i="0" u="none" strike="noStrike" dirty="0" err="1">
                <a:solidFill>
                  <a:srgbClr val="C89664"/>
                </a:solidFill>
                <a:latin typeface="Courier New"/>
                <a:ea typeface="Courier New"/>
                <a:cs typeface="Courier New"/>
                <a:sym typeface="Courier New"/>
              </a:rPr>
              <a:t>res_bus</a:t>
            </a:r>
            <a:r>
              <a:rPr lang="en-US" sz="1400" b="0" i="0" u="none" strike="noStrike" dirty="0">
                <a:solidFill>
                  <a:srgbClr val="C89664"/>
                </a:solidFill>
                <a:latin typeface="Courier New"/>
                <a:ea typeface="Courier New"/>
                <a:cs typeface="Courier New"/>
                <a:sym typeface="Courier New"/>
              </a:rPr>
              <a:t>'</a:t>
            </a:r>
            <a:r>
              <a:rPr lang="en-US" sz="1400" b="0" i="0" u="none" strike="noStrike" dirty="0">
                <a:solidFill>
                  <a:srgbClr val="E6F0FF"/>
                </a:solidFill>
                <a:latin typeface="Courier New"/>
                <a:ea typeface="Courier New"/>
                <a:cs typeface="Courier New"/>
                <a:sym typeface="Courier New"/>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02 Baseline Grid Model</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fontScale="92500" lnSpcReduction="10000"/>
          </a:bodyPr>
          <a:lstStyle/>
          <a:p>
            <a:pPr indent="0" algn="l">
              <a:lnSpc>
                <a:spcPct val="150000"/>
              </a:lnSpc>
              <a:defRPr/>
            </a:pPr>
            <a:r>
              <a:rPr lang="en-US" sz="2400" b="1" i="0" u="none" strike="noStrike">
                <a:solidFill>
                  <a:srgbClr val="263750"/>
                </a:solidFill>
                <a:latin typeface="Inter"/>
                <a:ea typeface="Inter"/>
                <a:cs typeface="Inter"/>
                <a:sym typeface="Inter"/>
              </a:rPr>
              <a:t>Goal: Establish a standard ML benchmark for grid voltages.</a:t>
            </a:r>
            <a:endParaRPr lang="en-US" sz="1100"/>
          </a:p>
          <a:p>
            <a:pPr indent="0" algn="l">
              <a:lnSpc>
                <a:spcPct val="150000"/>
              </a:lnSpc>
            </a:pPr>
            <a:r>
              <a:rPr lang="en-US" sz="2000" b="0" i="0" u="none" strike="noStrike">
                <a:solidFill>
                  <a:srgbClr val="263750"/>
                </a:solidFill>
                <a:latin typeface="Inter"/>
                <a:ea typeface="Inter"/>
                <a:cs typeface="Inter"/>
                <a:sym typeface="Inter"/>
              </a:rPr>
              <a:t>Before using LLMs, we need a strong traditional ML baseline:</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Train an XGBoost regression model to predict all 118 bus voltages.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Evaluate accuracy (MAE/RMSE) overall and by bus type (generator vs. load).</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Demystify the "black box" using SHAP (SHapley Additive exPlanations) to find which input features drive predictions.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Save metrics to a JSON file for the final cross-experiment comparison.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02 Baseline Grid Model</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a:t>
            </a:r>
            <a:endParaRPr lang="en-US" sz="1100"/>
          </a:p>
        </p:txBody>
      </p:sp>
      <p:sp>
        <p:nvSpPr>
          <p:cNvPr id="5" name="AutoShape 5"/>
          <p:cNvSpPr/>
          <p:nvPr/>
        </p:nvSpPr>
        <p:spPr>
          <a:xfrm>
            <a:off x="1016000" y="2032000"/>
            <a:ext cx="4826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a:solidFill>
                  <a:srgbClr val="0B203F"/>
                </a:solidFill>
                <a:latin typeface="Inter"/>
                <a:ea typeface="Inter"/>
                <a:cs typeface="Inter"/>
                <a:sym typeface="Inter"/>
              </a:rPr>
              <a:t>1. Data Setup</a:t>
            </a:r>
            <a:endParaRPr lang="en-US" sz="1100"/>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Load </a:t>
            </a:r>
            <a:r>
              <a:rPr lang="en-US" sz="1600" b="0" i="0" u="none" strike="noStrike">
                <a:solidFill>
                  <a:srgbClr val="263750"/>
                </a:solidFill>
                <a:latin typeface="Courier New"/>
                <a:ea typeface="Courier New"/>
                <a:cs typeface="Courier New"/>
                <a:sym typeface="Courier New"/>
              </a:rPr>
              <a:t>X</a:t>
            </a:r>
            <a:r>
              <a:rPr lang="en-US" sz="1600" b="0" i="0" u="none" strike="noStrike">
                <a:solidFill>
                  <a:srgbClr val="263750"/>
                </a:solidFill>
                <a:latin typeface="Inter"/>
                <a:ea typeface="Inter"/>
                <a:cs typeface="Inter"/>
                <a:sym typeface="Inter"/>
              </a:rPr>
              <a:t> (grid inputs) and </a:t>
            </a:r>
            <a:r>
              <a:rPr lang="en-US" sz="1600" b="0" i="0" u="none" strike="noStrike">
                <a:solidFill>
                  <a:srgbClr val="263750"/>
                </a:solidFill>
                <a:latin typeface="Courier New"/>
                <a:ea typeface="Courier New"/>
                <a:cs typeface="Courier New"/>
                <a:sym typeface="Courier New"/>
              </a:rPr>
              <a:t>y</a:t>
            </a:r>
            <a:r>
              <a:rPr lang="en-US" sz="1600" b="0" i="0" u="none" strike="noStrike">
                <a:solidFill>
                  <a:srgbClr val="263750"/>
                </a:solidFill>
                <a:latin typeface="Inter"/>
                <a:ea typeface="Inter"/>
                <a:cs typeface="Inter"/>
                <a:sym typeface="Inter"/>
              </a:rPr>
              <a:t> (bus voltages).</a:t>
            </a:r>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Categorize buses into Generator (controlled) vs. Load (fluctuating).</a:t>
            </a:r>
          </a:p>
        </p:txBody>
      </p:sp>
      <p:sp>
        <p:nvSpPr>
          <p:cNvPr id="6" name="AutoShape 6"/>
          <p:cNvSpPr/>
          <p:nvPr/>
        </p:nvSpPr>
        <p:spPr>
          <a:xfrm>
            <a:off x="6350000" y="2032000"/>
            <a:ext cx="4826000" cy="1905000"/>
          </a:xfrm>
          <a:prstGeom prst="roundRect">
            <a:avLst>
              <a:gd name="adj" fmla="val 5333"/>
            </a:avLst>
          </a:prstGeom>
          <a:solidFill>
            <a:srgbClr val="0B203F">
              <a:alpha val="100000"/>
            </a:srgbClr>
          </a:solidFill>
          <a:ln w="25400" cap="flat" cmpd="sng">
            <a:noFill/>
            <a:prstDash val="solid"/>
            <a:round/>
          </a:ln>
        </p:spPr>
        <p:txBody>
          <a:bodyPr vert="horz" wrap="square" lIns="254000" tIns="254000" rIns="254000" bIns="0" rtlCol="0" anchor="ctr" anchorCtr="0">
            <a:normAutofit fontScale="92500" lnSpcReduction="10000"/>
          </a:bodyPr>
          <a:lstStyle/>
          <a:p>
            <a:pPr indent="0" algn="l">
              <a:lnSpc>
                <a:spcPct val="116666"/>
              </a:lnSpc>
              <a:defRPr/>
            </a:pPr>
            <a:r>
              <a:rPr lang="en-US" sz="1400" b="0" i="0" u="none" strike="noStrike">
                <a:solidFill>
                  <a:srgbClr val="969696"/>
                </a:solidFill>
                <a:latin typeface="Courier New"/>
                <a:ea typeface="Courier New"/>
                <a:cs typeface="Courier New"/>
                <a:sym typeface="Courier New"/>
              </a:rPr>
              <a:t># 2. Multi-Output Training</a:t>
            </a:r>
            <a:endParaRPr lang="en-US" sz="1100"/>
          </a:p>
          <a:p>
            <a:pPr indent="0" algn="l">
              <a:lnSpc>
                <a:spcPct val="116666"/>
              </a:lnSpc>
            </a:pPr>
            <a:r>
              <a:rPr lang="en-US" sz="1400" b="0" i="0" u="none" strike="noStrike">
                <a:solidFill>
                  <a:srgbClr val="E6F0FF"/>
                </a:solidFill>
                <a:latin typeface="Courier New"/>
                <a:ea typeface="Courier New"/>
                <a:cs typeface="Courier New"/>
                <a:sym typeface="Courier New"/>
              </a:rPr>
              <a:t>base = XGBRegressor(</a:t>
            </a:r>
          </a:p>
          <a:p>
            <a:pPr indent="0" algn="l">
              <a:lnSpc>
                <a:spcPct val="116666"/>
              </a:lnSpc>
            </a:pPr>
            <a:r>
              <a:rPr lang="en-US" sz="1400" b="0" i="0" u="none" strike="noStrike">
                <a:solidFill>
                  <a:srgbClr val="E6F0FF"/>
                </a:solidFill>
                <a:latin typeface="Courier New"/>
                <a:ea typeface="Courier New"/>
                <a:cs typeface="Courier New"/>
                <a:sym typeface="Courier New"/>
              </a:rPr>
              <a:t>n_estimators=100,</a:t>
            </a:r>
          </a:p>
          <a:p>
            <a:pPr indent="0" algn="l">
              <a:lnSpc>
                <a:spcPct val="116666"/>
              </a:lnSpc>
            </a:pPr>
            <a:r>
              <a:rPr lang="en-US" sz="1400" b="0" i="0" u="none" strike="noStrike">
                <a:solidFill>
                  <a:srgbClr val="E6F0FF"/>
                </a:solidFill>
                <a:latin typeface="Courier New"/>
                <a:ea typeface="Courier New"/>
                <a:cs typeface="Courier New"/>
                <a:sym typeface="Courier New"/>
              </a:rPr>
              <a:t>max_depth=6</a:t>
            </a:r>
          </a:p>
          <a:p>
            <a:pPr indent="0" algn="l">
              <a:lnSpc>
                <a:spcPct val="116666"/>
              </a:lnSpc>
            </a:pPr>
            <a:r>
              <a:rPr lang="en-US" sz="1400" b="0" i="0" u="none" strike="noStrike">
                <a:solidFill>
                  <a:srgbClr val="E6F0FF"/>
                </a:solidFill>
                <a:latin typeface="Courier New"/>
                <a:ea typeface="Courier New"/>
                <a:cs typeface="Courier New"/>
                <a:sym typeface="Courier New"/>
              </a:rPr>
              <a:t>)</a:t>
            </a:r>
          </a:p>
          <a:p>
            <a:pPr indent="0" algn="l">
              <a:lnSpc>
                <a:spcPct val="116666"/>
              </a:lnSpc>
            </a:pPr>
            <a:r>
              <a:rPr lang="en-US" sz="1400" b="0" i="0" u="none" strike="noStrike">
                <a:solidFill>
                  <a:srgbClr val="E6F0FF"/>
                </a:solidFill>
                <a:latin typeface="Courier New"/>
                <a:ea typeface="Courier New"/>
                <a:cs typeface="Courier New"/>
                <a:sym typeface="Courier New"/>
              </a:rPr>
              <a:t>model = MultiOutputRegressor(base)</a:t>
            </a:r>
          </a:p>
          <a:p>
            <a:pPr indent="0" algn="l">
              <a:lnSpc>
                <a:spcPct val="116666"/>
              </a:lnSpc>
            </a:pPr>
            <a:r>
              <a:rPr lang="en-US" sz="1400" b="0" i="0" u="none" strike="noStrike">
                <a:solidFill>
                  <a:srgbClr val="E6F0FF"/>
                </a:solidFill>
                <a:latin typeface="Courier New"/>
                <a:ea typeface="Courier New"/>
                <a:cs typeface="Courier New"/>
                <a:sym typeface="Courier New"/>
              </a:rPr>
              <a:t>model.fit(X_train, y_train)</a:t>
            </a:r>
          </a:p>
        </p:txBody>
      </p:sp>
      <p:sp>
        <p:nvSpPr>
          <p:cNvPr id="7" name="AutoShape 7"/>
          <p:cNvSpPr/>
          <p:nvPr/>
        </p:nvSpPr>
        <p:spPr>
          <a:xfrm>
            <a:off x="1016000" y="4191000"/>
            <a:ext cx="4826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a:solidFill>
                  <a:srgbClr val="0B203F"/>
                </a:solidFill>
                <a:latin typeface="Inter"/>
                <a:ea typeface="Inter"/>
                <a:cs typeface="Inter"/>
                <a:sym typeface="Inter"/>
              </a:rPr>
              <a:t>3. Evaluation Metrics</a:t>
            </a:r>
            <a:endParaRPr lang="en-US" sz="1100"/>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Calculate Mean Absolute Error (MAE) and RMSE.</a:t>
            </a:r>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Compare generator error vs. load error to check physical validity.</a:t>
            </a:r>
          </a:p>
        </p:txBody>
      </p:sp>
      <p:sp>
        <p:nvSpPr>
          <p:cNvPr id="8" name="AutoShape 8"/>
          <p:cNvSpPr/>
          <p:nvPr/>
        </p:nvSpPr>
        <p:spPr>
          <a:xfrm>
            <a:off x="6350000" y="4191000"/>
            <a:ext cx="4826000" cy="1905000"/>
          </a:xfrm>
          <a:prstGeom prst="roundRect">
            <a:avLst>
              <a:gd name="adj" fmla="val 5333"/>
            </a:avLst>
          </a:prstGeom>
          <a:solidFill>
            <a:srgbClr val="0B203F">
              <a:alpha val="100000"/>
            </a:srgbClr>
          </a:solidFill>
          <a:ln w="25400" cap="flat" cmpd="sng">
            <a:noFill/>
            <a:prstDash val="solid"/>
            <a:round/>
          </a:ln>
        </p:spPr>
        <p:txBody>
          <a:bodyPr vert="horz" wrap="square" lIns="254000" tIns="254000" rIns="254000" bIns="0" rtlCol="0" anchor="ctr" anchorCtr="0">
            <a:normAutofit/>
          </a:bodyPr>
          <a:lstStyle/>
          <a:p>
            <a:pPr indent="0" algn="l">
              <a:lnSpc>
                <a:spcPct val="116666"/>
              </a:lnSpc>
              <a:defRPr/>
            </a:pPr>
            <a:r>
              <a:rPr lang="en-US" sz="1400" b="0" i="0" u="none" strike="noStrike">
                <a:solidFill>
                  <a:srgbClr val="969696"/>
                </a:solidFill>
                <a:latin typeface="Courier New"/>
                <a:ea typeface="Courier New"/>
                <a:cs typeface="Courier New"/>
                <a:sym typeface="Courier New"/>
              </a:rPr>
              <a:t># 4. SHAP Interpretation</a:t>
            </a:r>
            <a:endParaRPr lang="en-US" sz="1100"/>
          </a:p>
          <a:p>
            <a:pPr indent="0" algn="l">
              <a:lnSpc>
                <a:spcPct val="116666"/>
              </a:lnSpc>
            </a:pPr>
            <a:r>
              <a:rPr lang="en-US" sz="1400" b="0" i="0" u="none" strike="noStrike">
                <a:solidFill>
                  <a:srgbClr val="64C864"/>
                </a:solidFill>
                <a:latin typeface="Courier New"/>
                <a:ea typeface="Courier New"/>
                <a:cs typeface="Courier New"/>
                <a:sym typeface="Courier New"/>
              </a:rPr>
              <a:t>for</a:t>
            </a:r>
            <a:r>
              <a:rPr lang="en-US" sz="1400" b="0" i="0" u="none" strike="noStrike">
                <a:solidFill>
                  <a:srgbClr val="E6F0FF"/>
                </a:solidFill>
                <a:latin typeface="Courier New"/>
                <a:ea typeface="Courier New"/>
                <a:cs typeface="Courier New"/>
                <a:sym typeface="Courier New"/>
              </a:rPr>
              <a:t> estimator </a:t>
            </a:r>
            <a:r>
              <a:rPr lang="en-US" sz="1400" b="0" i="0" u="none" strike="noStrike">
                <a:solidFill>
                  <a:srgbClr val="64C864"/>
                </a:solidFill>
                <a:latin typeface="Courier New"/>
                <a:ea typeface="Courier New"/>
                <a:cs typeface="Courier New"/>
                <a:sym typeface="Courier New"/>
              </a:rPr>
              <a:t>in</a:t>
            </a:r>
            <a:r>
              <a:rPr lang="en-US" sz="1400" b="0" i="0" u="none" strike="noStrike">
                <a:solidFill>
                  <a:srgbClr val="E6F0FF"/>
                </a:solidFill>
                <a:latin typeface="Courier New"/>
                <a:ea typeface="Courier New"/>
                <a:cs typeface="Courier New"/>
                <a:sym typeface="Courier New"/>
              </a:rPr>
              <a:t> model.estimators_:</a:t>
            </a:r>
          </a:p>
          <a:p>
            <a:pPr indent="0" algn="l">
              <a:lnSpc>
                <a:spcPct val="116666"/>
              </a:lnSpc>
            </a:pPr>
            <a:r>
              <a:rPr lang="en-US" sz="1400" b="0" i="0" u="none" strike="noStrike">
                <a:solidFill>
                  <a:srgbClr val="E6F0FF"/>
                </a:solidFill>
                <a:latin typeface="Courier New"/>
                <a:ea typeface="Courier New"/>
                <a:cs typeface="Courier New"/>
                <a:sym typeface="Courier New"/>
              </a:rPr>
              <a:t>exp = shap.TreeExplainer(estimator)</a:t>
            </a:r>
          </a:p>
          <a:p>
            <a:pPr indent="0" algn="l">
              <a:lnSpc>
                <a:spcPct val="116666"/>
              </a:lnSpc>
            </a:pPr>
            <a:r>
              <a:rPr lang="en-US" sz="1400" b="0" i="0" u="none" strike="noStrike">
                <a:solidFill>
                  <a:srgbClr val="E6F0FF"/>
                </a:solidFill>
                <a:latin typeface="Courier New"/>
                <a:ea typeface="Courier New"/>
                <a:cs typeface="Courier New"/>
                <a:sym typeface="Courier New"/>
              </a:rPr>
              <a:t>vals = exp.shap_values(X_test)</a:t>
            </a:r>
          </a:p>
          <a:p>
            <a:pPr indent="0" algn="l">
              <a:lnSpc>
                <a:spcPct val="116666"/>
              </a:lnSpc>
            </a:pPr>
            <a:r>
              <a:rPr lang="en-US" sz="1400" b="0" i="0" u="none" strike="noStrike">
                <a:solidFill>
                  <a:srgbClr val="E6F0FF"/>
                </a:solidFill>
                <a:latin typeface="Courier New"/>
                <a:ea typeface="Courier New"/>
                <a:cs typeface="Courier New"/>
                <a:sym typeface="Courier New"/>
              </a:rPr>
              <a:t>all_shap_values.append(vals)</a:t>
            </a:r>
          </a:p>
          <a:p>
            <a:pPr indent="0" algn="l">
              <a:lnSpc>
                <a:spcPct val="116666"/>
              </a:lnSpc>
            </a:pPr>
            <a:r>
              <a:rPr lang="en-US" sz="1400" b="0" i="0" u="none" strike="noStrike">
                <a:solidFill>
                  <a:srgbClr val="969696"/>
                </a:solidFill>
                <a:latin typeface="Courier New"/>
                <a:ea typeface="Courier New"/>
                <a:cs typeface="Courier New"/>
                <a:sym typeface="Courier New"/>
              </a:rPr>
              <a:t># Average across all 118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03 LLMIP Grid</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a:bodyPr>
          <a:lstStyle/>
          <a:p>
            <a:pPr indent="0" algn="l">
              <a:lnSpc>
                <a:spcPct val="150000"/>
              </a:lnSpc>
              <a:defRPr/>
            </a:pPr>
            <a:r>
              <a:rPr lang="en-US" sz="2400" b="1" i="0" u="none" strike="noStrike" dirty="0">
                <a:solidFill>
                  <a:srgbClr val="263750"/>
                </a:solidFill>
                <a:latin typeface="Inter"/>
                <a:ea typeface="Inter"/>
                <a:cs typeface="Inter"/>
                <a:sym typeface="Inter"/>
              </a:rPr>
              <a:t>Goal: Replace math-based model weights with in-context logic.</a:t>
            </a:r>
            <a:endParaRPr lang="en-US" sz="1100" dirty="0"/>
          </a:p>
          <a:p>
            <a:pPr indent="0" algn="l">
              <a:lnSpc>
                <a:spcPct val="150000"/>
              </a:lnSpc>
            </a:pPr>
            <a:r>
              <a:rPr lang="en-US" sz="2000" b="0" i="0" u="none" strike="noStrike" dirty="0">
                <a:solidFill>
                  <a:srgbClr val="263750"/>
                </a:solidFill>
                <a:latin typeface="Inter"/>
                <a:ea typeface="Inter"/>
                <a:cs typeface="Inter"/>
                <a:sym typeface="Inter"/>
              </a:rPr>
              <a:t>Tests whether a Large Language Model can learn and predict complex physics:</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Prompts the LLM as a "power systems engineer".</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Asks it to discover rules and thresholds from training examples.</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Feeds those rules back to predict 118 exact voltages for test cases.</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Examines whether the LLM can consistently replicate its own logic.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03 LLMIP Grid</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 Discovery &amp; Prediction Phases</a:t>
            </a:r>
            <a:endParaRPr lang="en-US" sz="1100"/>
          </a:p>
        </p:txBody>
      </p:sp>
      <p:sp>
        <p:nvSpPr>
          <p:cNvPr id="5" name="AutoShape 5"/>
          <p:cNvSpPr/>
          <p:nvPr/>
        </p:nvSpPr>
        <p:spPr>
          <a:xfrm>
            <a:off x="1016000" y="1905000"/>
            <a:ext cx="4445000" cy="2921000"/>
          </a:xfrm>
          <a:prstGeom prst="roundRect">
            <a:avLst>
              <a:gd name="adj" fmla="val 3478"/>
            </a:avLst>
          </a:prstGeom>
          <a:solidFill>
            <a:srgbClr val="FFFFFF">
              <a:alpha val="90000"/>
            </a:srgbClr>
          </a:solidFill>
          <a:ln w="25400" cap="flat" cmpd="sng">
            <a:solidFill>
              <a:srgbClr val="00A3A6">
                <a:alpha val="10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a:solidFill>
                  <a:srgbClr val="0B203F"/>
                </a:solidFill>
                <a:latin typeface="Inter"/>
                <a:ea typeface="Inter"/>
                <a:cs typeface="Inter"/>
                <a:sym typeface="Inter"/>
              </a:rPr>
              <a:t>Phase 1: Pattern Discovery</a:t>
            </a:r>
            <a:endParaRPr lang="en-US" sz="1100"/>
          </a:p>
          <a:p>
            <a:pPr indent="0" algn="l">
              <a:lnSpc>
                <a:spcPct val="125000"/>
              </a:lnSpc>
            </a:pPr>
            <a:r>
              <a:rPr lang="en-US" sz="1600" b="1" i="0" u="none" strike="noStrike">
                <a:solidFill>
                  <a:srgbClr val="263750"/>
                </a:solidFill>
                <a:latin typeface="Inter"/>
                <a:ea typeface="Inter"/>
                <a:cs typeface="Inter"/>
                <a:sym typeface="Inter"/>
              </a:rPr>
              <a:t>Input:</a:t>
            </a:r>
            <a:r>
              <a:rPr lang="en-US" sz="1600" b="0" i="0" u="none" strike="noStrike">
                <a:solidFill>
                  <a:srgbClr val="263750"/>
                </a:solidFill>
                <a:latin typeface="Inter"/>
                <a:ea typeface="Inter"/>
                <a:cs typeface="Inter"/>
                <a:sym typeface="Inter"/>
              </a:rPr>
              <a:t> A small subset of historical grid data (inputs + correct voltages).</a:t>
            </a:r>
          </a:p>
          <a:p>
            <a:pPr indent="0" algn="l">
              <a:lnSpc>
                <a:spcPct val="125000"/>
              </a:lnSpc>
            </a:pPr>
            <a:r>
              <a:rPr lang="en-US" sz="1600" b="1" i="0" u="none" strike="noStrike">
                <a:solidFill>
                  <a:srgbClr val="263750"/>
                </a:solidFill>
                <a:latin typeface="Inter"/>
                <a:ea typeface="Inter"/>
                <a:cs typeface="Inter"/>
                <a:sym typeface="Inter"/>
              </a:rPr>
              <a:t>Action:</a:t>
            </a:r>
            <a:r>
              <a:rPr lang="en-US" sz="1600" b="0" i="0" u="none" strike="noStrike">
                <a:solidFill>
                  <a:srgbClr val="263750"/>
                </a:solidFill>
                <a:latin typeface="Inter"/>
                <a:ea typeface="Inter"/>
                <a:cs typeface="Inter"/>
                <a:sym typeface="Inter"/>
              </a:rPr>
              <a:t> Prompt the LLM to identify IF-THEN patterns and thresholds.</a:t>
            </a:r>
          </a:p>
          <a:p>
            <a:pPr indent="0" algn="l">
              <a:lnSpc>
                <a:spcPct val="125000"/>
              </a:lnSpc>
            </a:pPr>
            <a:r>
              <a:rPr lang="en-US" sz="1600" b="1" i="0" u="none" strike="noStrike">
                <a:solidFill>
                  <a:srgbClr val="263750"/>
                </a:solidFill>
                <a:latin typeface="Inter"/>
                <a:ea typeface="Inter"/>
                <a:cs typeface="Inter"/>
                <a:sym typeface="Inter"/>
              </a:rPr>
              <a:t>Output:</a:t>
            </a:r>
            <a:r>
              <a:rPr lang="en-US" sz="1600" b="0" i="0" u="none" strike="noStrike">
                <a:solidFill>
                  <a:srgbClr val="263750"/>
                </a:solidFill>
                <a:latin typeface="Inter"/>
                <a:ea typeface="Inter"/>
                <a:cs typeface="Inter"/>
                <a:sym typeface="Inter"/>
              </a:rPr>
              <a:t> A text-based "Analysis Rulebook".</a:t>
            </a:r>
          </a:p>
        </p:txBody>
      </p:sp>
      <p:cxnSp>
        <p:nvCxnSpPr>
          <p:cNvPr id="6" name="Connector 6"/>
          <p:cNvCxnSpPr/>
          <p:nvPr/>
        </p:nvCxnSpPr>
        <p:spPr>
          <a:xfrm rot="-34376">
            <a:off x="5460397" y="3359150"/>
            <a:ext cx="1270000" cy="12700"/>
          </a:xfrm>
          <a:prstGeom prst="straightConnector1">
            <a:avLst/>
          </a:prstGeom>
          <a:solidFill>
            <a:srgbClr val="DEE0E3">
              <a:alpha val="100000"/>
            </a:srgbClr>
          </a:solidFill>
          <a:ln w="50800" cap="flat" cmpd="sng">
            <a:solidFill>
              <a:srgbClr val="0B203F">
                <a:alpha val="50000"/>
              </a:srgbClr>
            </a:solidFill>
            <a:prstDash val="solid"/>
            <a:round/>
            <a:headEnd type="none" w="lg" len="lg"/>
            <a:tailEnd type="arrow" w="lg" len="lg"/>
          </a:ln>
        </p:spPr>
      </p:cxnSp>
      <p:sp>
        <p:nvSpPr>
          <p:cNvPr id="7" name="AutoShape 7"/>
          <p:cNvSpPr/>
          <p:nvPr/>
        </p:nvSpPr>
        <p:spPr>
          <a:xfrm>
            <a:off x="6731000" y="1905000"/>
            <a:ext cx="4445000" cy="2921000"/>
          </a:xfrm>
          <a:prstGeom prst="roundRect">
            <a:avLst>
              <a:gd name="adj" fmla="val 3478"/>
            </a:avLst>
          </a:prstGeom>
          <a:solidFill>
            <a:srgbClr val="FFFFFF">
              <a:alpha val="90000"/>
            </a:srgbClr>
          </a:solidFill>
          <a:ln w="25400" cap="flat" cmpd="sng">
            <a:solidFill>
              <a:srgbClr val="00A3A6">
                <a:alpha val="10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a:solidFill>
                  <a:srgbClr val="0B203F"/>
                </a:solidFill>
                <a:latin typeface="Inter"/>
                <a:ea typeface="Inter"/>
                <a:cs typeface="Inter"/>
                <a:sym typeface="Inter"/>
              </a:rPr>
              <a:t>Phase 2: Batch Prediction</a:t>
            </a:r>
            <a:endParaRPr lang="en-US" sz="1100"/>
          </a:p>
          <a:p>
            <a:pPr indent="0" algn="l">
              <a:lnSpc>
                <a:spcPct val="125000"/>
              </a:lnSpc>
            </a:pPr>
            <a:r>
              <a:rPr lang="en-US" sz="1600" b="1" i="0" u="none" strike="noStrike">
                <a:solidFill>
                  <a:srgbClr val="263750"/>
                </a:solidFill>
                <a:latin typeface="Inter"/>
                <a:ea typeface="Inter"/>
                <a:cs typeface="Inter"/>
                <a:sym typeface="Inter"/>
              </a:rPr>
              <a:t>System Prompt:</a:t>
            </a:r>
            <a:r>
              <a:rPr lang="en-US" sz="1600" b="0" i="0" u="none" strike="noStrike">
                <a:solidFill>
                  <a:srgbClr val="263750"/>
                </a:solidFill>
                <a:latin typeface="Inter"/>
                <a:ea typeface="Inter"/>
                <a:cs typeface="Inter"/>
                <a:sym typeface="Inter"/>
              </a:rPr>
              <a:t> The Rulebook from Phase 1.</a:t>
            </a:r>
          </a:p>
          <a:p>
            <a:pPr indent="0" algn="l">
              <a:lnSpc>
                <a:spcPct val="125000"/>
              </a:lnSpc>
            </a:pPr>
            <a:r>
              <a:rPr lang="en-US" sz="1600" b="1" i="0" u="none" strike="noStrike">
                <a:solidFill>
                  <a:srgbClr val="263750"/>
                </a:solidFill>
                <a:latin typeface="Inter"/>
                <a:ea typeface="Inter"/>
                <a:cs typeface="Inter"/>
                <a:sym typeface="Inter"/>
              </a:rPr>
              <a:t>User Prompt:</a:t>
            </a:r>
            <a:r>
              <a:rPr lang="en-US" sz="1600" b="0" i="0" u="none" strike="noStrike">
                <a:solidFill>
                  <a:srgbClr val="263750"/>
                </a:solidFill>
                <a:latin typeface="Inter"/>
                <a:ea typeface="Inter"/>
                <a:cs typeface="Inter"/>
                <a:sym typeface="Inter"/>
              </a:rPr>
              <a:t> New, unseen grid features.</a:t>
            </a:r>
          </a:p>
          <a:p>
            <a:pPr indent="0" algn="l">
              <a:lnSpc>
                <a:spcPct val="125000"/>
              </a:lnSpc>
            </a:pPr>
            <a:r>
              <a:rPr lang="en-US" sz="1600" b="1" i="0" u="none" strike="noStrike">
                <a:solidFill>
                  <a:srgbClr val="263750"/>
                </a:solidFill>
                <a:latin typeface="Inter"/>
                <a:ea typeface="Inter"/>
                <a:cs typeface="Inter"/>
                <a:sym typeface="Inter"/>
              </a:rPr>
              <a:t>Output:</a:t>
            </a:r>
            <a:r>
              <a:rPr lang="en-US" sz="1600" b="0" i="0" u="none" strike="noStrike">
                <a:solidFill>
                  <a:srgbClr val="263750"/>
                </a:solidFill>
                <a:latin typeface="Inter"/>
                <a:ea typeface="Inter"/>
                <a:cs typeface="Inter"/>
                <a:sym typeface="Inter"/>
              </a:rPr>
              <a:t> Text containing 118 predicted voltages per sample.</a:t>
            </a:r>
          </a:p>
        </p:txBody>
      </p:sp>
      <p:sp>
        <p:nvSpPr>
          <p:cNvPr id="8" name="AutoShape 8"/>
          <p:cNvSpPr/>
          <p:nvPr/>
        </p:nvSpPr>
        <p:spPr>
          <a:xfrm>
            <a:off x="1016000" y="5016500"/>
            <a:ext cx="10160000" cy="1397000"/>
          </a:xfrm>
          <a:prstGeom prst="roundRect">
            <a:avLst>
              <a:gd name="adj" fmla="val 7272"/>
            </a:avLst>
          </a:prstGeom>
          <a:solidFill>
            <a:srgbClr val="0B203F">
              <a:alpha val="100000"/>
            </a:srgbClr>
          </a:solidFill>
          <a:ln w="25400" cap="flat" cmpd="sng">
            <a:noFill/>
            <a:prstDash val="solid"/>
            <a:round/>
          </a:ln>
        </p:spPr>
        <p:txBody>
          <a:bodyPr vert="horz" wrap="square" lIns="254000" tIns="254000" rIns="254000" bIns="0" rtlCol="0" anchor="ctr" anchorCtr="0">
            <a:normAutofit fontScale="92500" lnSpcReduction="10000"/>
          </a:bodyPr>
          <a:lstStyle/>
          <a:p>
            <a:pPr indent="0" algn="l">
              <a:lnSpc>
                <a:spcPct val="116666"/>
              </a:lnSpc>
              <a:defRPr/>
            </a:pPr>
            <a:r>
              <a:rPr lang="en-US" sz="1400" b="0" i="0" u="none" strike="noStrike">
                <a:solidFill>
                  <a:srgbClr val="969696"/>
                </a:solidFill>
                <a:latin typeface="Courier New"/>
                <a:ea typeface="Courier New"/>
                <a:cs typeface="Courier New"/>
                <a:sym typeface="Courier New"/>
              </a:rPr>
              <a:t># Phase 2 Parallel Execution</a:t>
            </a:r>
            <a:endParaRPr lang="en-US" sz="1100"/>
          </a:p>
          <a:p>
            <a:pPr indent="0" algn="l">
              <a:lnSpc>
                <a:spcPct val="116666"/>
              </a:lnSpc>
            </a:pPr>
            <a:r>
              <a:rPr lang="en-US" sz="1400" b="0" i="0" u="none" strike="noStrike">
                <a:solidFill>
                  <a:srgbClr val="64C864"/>
                </a:solidFill>
                <a:latin typeface="Courier New"/>
                <a:ea typeface="Courier New"/>
                <a:cs typeface="Courier New"/>
                <a:sym typeface="Courier New"/>
              </a:rPr>
              <a:t>with</a:t>
            </a:r>
            <a:r>
              <a:rPr lang="en-US" sz="1400" b="0" i="0" u="none" strike="noStrike">
                <a:solidFill>
                  <a:srgbClr val="E6F0FF"/>
                </a:solidFill>
                <a:latin typeface="Courier New"/>
                <a:ea typeface="Courier New"/>
                <a:cs typeface="Courier New"/>
                <a:sym typeface="Courier New"/>
              </a:rPr>
              <a:t> ThreadPoolExecutor(max_workers=</a:t>
            </a:r>
            <a:r>
              <a:rPr lang="en-US" sz="1400" b="0" i="0" u="none" strike="noStrike">
                <a:solidFill>
                  <a:srgbClr val="FF9696"/>
                </a:solidFill>
                <a:latin typeface="Courier New"/>
                <a:ea typeface="Courier New"/>
                <a:cs typeface="Courier New"/>
                <a:sym typeface="Courier New"/>
              </a:rPr>
              <a:t>10</a:t>
            </a:r>
            <a:r>
              <a:rPr lang="en-US" sz="1400" b="0" i="0" u="none" strike="noStrike">
                <a:solidFill>
                  <a:srgbClr val="E6F0FF"/>
                </a:solidFill>
                <a:latin typeface="Courier New"/>
                <a:ea typeface="Courier New"/>
                <a:cs typeface="Courier New"/>
                <a:sym typeface="Courier New"/>
              </a:rPr>
              <a:t>) </a:t>
            </a:r>
            <a:r>
              <a:rPr lang="en-US" sz="1400" b="0" i="0" u="none" strike="noStrike">
                <a:solidFill>
                  <a:srgbClr val="64C864"/>
                </a:solidFill>
                <a:latin typeface="Courier New"/>
                <a:ea typeface="Courier New"/>
                <a:cs typeface="Courier New"/>
                <a:sym typeface="Courier New"/>
              </a:rPr>
              <a:t>as</a:t>
            </a:r>
            <a:r>
              <a:rPr lang="en-US" sz="1400" b="0" i="0" u="none" strike="noStrike">
                <a:solidFill>
                  <a:srgbClr val="E6F0FF"/>
                </a:solidFill>
                <a:latin typeface="Courier New"/>
                <a:ea typeface="Courier New"/>
                <a:cs typeface="Courier New"/>
                <a:sym typeface="Courier New"/>
              </a:rPr>
              <a:t> executor:</a:t>
            </a:r>
          </a:p>
          <a:p>
            <a:pPr indent="0" algn="l">
              <a:lnSpc>
                <a:spcPct val="116666"/>
              </a:lnSpc>
            </a:pPr>
            <a:r>
              <a:rPr lang="en-US" sz="1400" b="0" i="0" u="none" strike="noStrike">
                <a:solidFill>
                  <a:srgbClr val="E6F0FF"/>
                </a:solidFill>
                <a:latin typeface="Courier New"/>
                <a:ea typeface="Courier New"/>
                <a:cs typeface="Courier New"/>
                <a:sym typeface="Courier New"/>
              </a:rPr>
              <a:t>futures = [executor.submit(predict_single_sample, arg) </a:t>
            </a:r>
            <a:r>
              <a:rPr lang="en-US" sz="1400" b="0" i="0" u="none" strike="noStrike">
                <a:solidFill>
                  <a:srgbClr val="64C864"/>
                </a:solidFill>
                <a:latin typeface="Courier New"/>
                <a:ea typeface="Courier New"/>
                <a:cs typeface="Courier New"/>
                <a:sym typeface="Courier New"/>
              </a:rPr>
              <a:t>for</a:t>
            </a:r>
            <a:r>
              <a:rPr lang="en-US" sz="1400" b="0" i="0" u="none" strike="noStrike">
                <a:solidFill>
                  <a:srgbClr val="E6F0FF"/>
                </a:solidFill>
                <a:latin typeface="Courier New"/>
                <a:ea typeface="Courier New"/>
                <a:cs typeface="Courier New"/>
                <a:sym typeface="Courier New"/>
              </a:rPr>
              <a:t> arg </a:t>
            </a:r>
            <a:r>
              <a:rPr lang="en-US" sz="1400" b="0" i="0" u="none" strike="noStrike">
                <a:solidFill>
                  <a:srgbClr val="64C864"/>
                </a:solidFill>
                <a:latin typeface="Courier New"/>
                <a:ea typeface="Courier New"/>
                <a:cs typeface="Courier New"/>
                <a:sym typeface="Courier New"/>
              </a:rPr>
              <a:t>in</a:t>
            </a:r>
            <a:r>
              <a:rPr lang="en-US" sz="1400" b="0" i="0" u="none" strike="noStrike">
                <a:solidFill>
                  <a:srgbClr val="E6F0FF"/>
                </a:solidFill>
                <a:latin typeface="Courier New"/>
                <a:ea typeface="Courier New"/>
                <a:cs typeface="Courier New"/>
                <a:sym typeface="Courier New"/>
              </a:rPr>
              <a:t> args_list]</a:t>
            </a:r>
          </a:p>
          <a:p>
            <a:pPr indent="0" algn="l">
              <a:lnSpc>
                <a:spcPct val="116666"/>
              </a:lnSpc>
            </a:pPr>
            <a:r>
              <a:rPr lang="en-US" sz="1400" b="0" i="0" u="none" strike="noStrike">
                <a:solidFill>
                  <a:srgbClr val="E6F0FF"/>
                </a:solidFill>
                <a:latin typeface="Courier New"/>
                <a:ea typeface="Courier New"/>
                <a:cs typeface="Courier New"/>
                <a:sym typeface="Courier New"/>
              </a:rPr>
              <a:t>    </a:t>
            </a:r>
            <a:r>
              <a:rPr lang="en-US" sz="1400" b="0" i="0" u="none" strike="noStrike">
                <a:solidFill>
                  <a:srgbClr val="64C864"/>
                </a:solidFill>
                <a:latin typeface="Courier New"/>
                <a:ea typeface="Courier New"/>
                <a:cs typeface="Courier New"/>
                <a:sym typeface="Courier New"/>
              </a:rPr>
              <a:t>for</a:t>
            </a:r>
            <a:r>
              <a:rPr lang="en-US" sz="1400" b="0" i="0" u="none" strike="noStrike">
                <a:solidFill>
                  <a:srgbClr val="E6F0FF"/>
                </a:solidFill>
                <a:latin typeface="Courier New"/>
                <a:ea typeface="Courier New"/>
                <a:cs typeface="Courier New"/>
                <a:sym typeface="Courier New"/>
              </a:rPr>
              <a:t> future </a:t>
            </a:r>
            <a:r>
              <a:rPr lang="en-US" sz="1400" b="0" i="0" u="none" strike="noStrike">
                <a:solidFill>
                  <a:srgbClr val="64C864"/>
                </a:solidFill>
                <a:latin typeface="Courier New"/>
                <a:ea typeface="Courier New"/>
                <a:cs typeface="Courier New"/>
                <a:sym typeface="Courier New"/>
              </a:rPr>
              <a:t>in</a:t>
            </a:r>
            <a:r>
              <a:rPr lang="en-US" sz="1400" b="0" i="0" u="none" strike="noStrike">
                <a:solidFill>
                  <a:srgbClr val="E6F0FF"/>
                </a:solidFill>
                <a:latin typeface="Courier New"/>
                <a:ea typeface="Courier New"/>
                <a:cs typeface="Courier New"/>
                <a:sym typeface="Courier New"/>
              </a:rPr>
              <a:t> as_completed(futures):</a:t>
            </a:r>
          </a:p>
          <a:p>
            <a:pPr indent="0" algn="l">
              <a:lnSpc>
                <a:spcPct val="116666"/>
              </a:lnSpc>
            </a:pPr>
            <a:r>
              <a:rPr lang="en-US" sz="1400" b="0" i="0" u="none" strike="noStrike">
                <a:solidFill>
                  <a:srgbClr val="E6F0FF"/>
                </a:solidFill>
                <a:latin typeface="Courier New"/>
                <a:ea typeface="Courier New"/>
                <a:cs typeface="Courier New"/>
                <a:sym typeface="Courier New"/>
              </a:rPr>
              <a:t>results.append(future.result())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03 LLMIP Grid</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 Plumbing &amp; Replicability</a:t>
            </a:r>
            <a:endParaRPr lang="en-US" sz="1100"/>
          </a:p>
        </p:txBody>
      </p:sp>
      <p:sp>
        <p:nvSpPr>
          <p:cNvPr id="5" name="AutoShape 5"/>
          <p:cNvSpPr/>
          <p:nvPr/>
        </p:nvSpPr>
        <p:spPr>
          <a:xfrm>
            <a:off x="1016000" y="1905000"/>
            <a:ext cx="5080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a:solidFill>
                  <a:srgbClr val="0B203F"/>
                </a:solidFill>
                <a:latin typeface="Inter"/>
                <a:ea typeface="Inter"/>
                <a:cs typeface="Inter"/>
                <a:sym typeface="Inter"/>
              </a:rPr>
              <a:t>1. Regex Parsing</a:t>
            </a:r>
            <a:endParaRPr lang="en-US" sz="1100"/>
          </a:p>
          <a:p>
            <a:pPr indent="0" algn="l">
              <a:lnSpc>
                <a:spcPct val="125000"/>
              </a:lnSpc>
            </a:pPr>
            <a:r>
              <a:rPr lang="en-US" sz="1600" b="0" i="0" u="none" strike="noStrike">
                <a:solidFill>
                  <a:srgbClr val="263750"/>
                </a:solidFill>
                <a:latin typeface="Inter"/>
                <a:ea typeface="Inter"/>
                <a:cs typeface="Inter"/>
                <a:sym typeface="Inter"/>
              </a:rPr>
              <a:t>The LLM returns conversational text. We must extract numerical vectors for evaluation.</a:t>
            </a:r>
          </a:p>
        </p:txBody>
      </p:sp>
      <p:sp>
        <p:nvSpPr>
          <p:cNvPr id="6" name="AutoShape 6"/>
          <p:cNvSpPr/>
          <p:nvPr/>
        </p:nvSpPr>
        <p:spPr>
          <a:xfrm>
            <a:off x="1016000" y="3937000"/>
            <a:ext cx="5080000" cy="2286000"/>
          </a:xfrm>
          <a:prstGeom prst="roundRect">
            <a:avLst>
              <a:gd name="adj" fmla="val 4444"/>
            </a:avLst>
          </a:prstGeom>
          <a:solidFill>
            <a:srgbClr val="0B203F">
              <a:alpha val="100000"/>
            </a:srgbClr>
          </a:solidFill>
          <a:ln w="25400" cap="flat" cmpd="sng">
            <a:noFill/>
            <a:prstDash val="solid"/>
            <a:round/>
          </a:ln>
        </p:spPr>
        <p:txBody>
          <a:bodyPr vert="horz" wrap="square" lIns="254000" tIns="254000" rIns="254000" bIns="0" rtlCol="0" anchor="ctr" anchorCtr="0">
            <a:normAutofit lnSpcReduction="10000"/>
          </a:bodyPr>
          <a:lstStyle/>
          <a:p>
            <a:pPr indent="0" algn="l">
              <a:lnSpc>
                <a:spcPct val="116666"/>
              </a:lnSpc>
              <a:defRPr/>
            </a:pPr>
            <a:r>
              <a:rPr lang="en-US" sz="1300" b="0" i="0" u="none" strike="noStrike">
                <a:solidFill>
                  <a:srgbClr val="969696"/>
                </a:solidFill>
                <a:latin typeface="Courier New"/>
                <a:ea typeface="Courier New"/>
                <a:cs typeface="Courier New"/>
                <a:sym typeface="Courier New"/>
              </a:rPr>
              <a:t># Extracting predictions</a:t>
            </a:r>
            <a:endParaRPr lang="en-US" sz="1100"/>
          </a:p>
          <a:p>
            <a:pPr indent="0" algn="l">
              <a:lnSpc>
                <a:spcPct val="116666"/>
              </a:lnSpc>
            </a:pPr>
            <a:r>
              <a:rPr lang="en-US" sz="1300" b="0" i="0" u="none" strike="noStrike">
                <a:solidFill>
                  <a:srgbClr val="E6F0FF"/>
                </a:solidFill>
                <a:latin typeface="Courier New"/>
                <a:ea typeface="Courier New"/>
                <a:cs typeface="Courier New"/>
                <a:sym typeface="Courier New"/>
              </a:rPr>
              <a:t>match = re.search(</a:t>
            </a:r>
          </a:p>
          <a:p>
            <a:pPr indent="0" algn="l">
              <a:lnSpc>
                <a:spcPct val="116666"/>
              </a:lnSpc>
            </a:pPr>
            <a:r>
              <a:rPr lang="en-US" sz="1300" b="0" i="0" u="none" strike="noStrike">
                <a:solidFill>
                  <a:srgbClr val="E6F0FF"/>
                </a:solidFill>
                <a:latin typeface="Courier New"/>
                <a:ea typeface="Courier New"/>
                <a:cs typeface="Courier New"/>
                <a:sym typeface="Courier New"/>
              </a:rPr>
              <a:t>    </a:t>
            </a:r>
            <a:r>
              <a:rPr lang="en-US" sz="1300" b="0" i="0" u="none" strike="noStrike">
                <a:solidFill>
                  <a:srgbClr val="C89664"/>
                </a:solidFill>
                <a:latin typeface="Courier New"/>
                <a:ea typeface="Courier New"/>
                <a:cs typeface="Courier New"/>
                <a:sym typeface="Courier New"/>
              </a:rPr>
              <a:t>r'Bus:?\s*(\d+)'</a:t>
            </a:r>
            <a:r>
              <a:rPr lang="en-US" sz="1300" b="0" i="0" u="none" strike="noStrike">
                <a:solidFill>
                  <a:srgbClr val="E6F0FF"/>
                </a:solidFill>
                <a:latin typeface="Courier New"/>
                <a:ea typeface="Courier New"/>
                <a:cs typeface="Courier New"/>
                <a:sym typeface="Courier New"/>
              </a:rPr>
              <a:t>, line</a:t>
            </a:r>
          </a:p>
          <a:p>
            <a:pPr indent="0" algn="l">
              <a:lnSpc>
                <a:spcPct val="116666"/>
              </a:lnSpc>
            </a:pPr>
            <a:r>
              <a:rPr lang="en-US" sz="1300" b="0" i="0" u="none" strike="noStrike">
                <a:solidFill>
                  <a:srgbClr val="E6F0FF"/>
                </a:solidFill>
                <a:latin typeface="Courier New"/>
                <a:ea typeface="Courier New"/>
                <a:cs typeface="Courier New"/>
                <a:sym typeface="Courier New"/>
              </a:rPr>
              <a:t>)</a:t>
            </a:r>
          </a:p>
          <a:p>
            <a:pPr indent="0" algn="l">
              <a:lnSpc>
                <a:spcPct val="116666"/>
              </a:lnSpc>
            </a:pPr>
            <a:r>
              <a:rPr lang="en-US" sz="1300" b="0" i="0" u="none" strike="noStrike">
                <a:solidFill>
                  <a:srgbClr val="64C864"/>
                </a:solidFill>
                <a:latin typeface="Courier New"/>
                <a:ea typeface="Courier New"/>
                <a:cs typeface="Courier New"/>
                <a:sym typeface="Courier New"/>
              </a:rPr>
              <a:t>if</a:t>
            </a:r>
            <a:r>
              <a:rPr lang="en-US" sz="1300" b="0" i="0" u="none" strike="noStrike">
                <a:solidFill>
                  <a:srgbClr val="E6F0FF"/>
                </a:solidFill>
                <a:latin typeface="Courier New"/>
                <a:ea typeface="Courier New"/>
                <a:cs typeface="Courier New"/>
                <a:sym typeface="Courier New"/>
              </a:rPr>
              <a:t> match:</a:t>
            </a:r>
          </a:p>
          <a:p>
            <a:pPr indent="0" algn="l">
              <a:lnSpc>
                <a:spcPct val="116666"/>
              </a:lnSpc>
            </a:pPr>
            <a:r>
              <a:rPr lang="en-US" sz="1300" b="0" i="0" u="none" strike="noStrike">
                <a:solidFill>
                  <a:srgbClr val="E6F0FF"/>
                </a:solidFill>
                <a:latin typeface="Courier New"/>
                <a:ea typeface="Courier New"/>
                <a:cs typeface="Courier New"/>
                <a:sym typeface="Courier New"/>
              </a:rPr>
              <a:t>bus = match.group(</a:t>
            </a:r>
            <a:r>
              <a:rPr lang="en-US" sz="1300" b="0" i="0" u="none" strike="noStrike">
                <a:solidFill>
                  <a:srgbClr val="FF9696"/>
                </a:solidFill>
                <a:latin typeface="Courier New"/>
                <a:ea typeface="Courier New"/>
                <a:cs typeface="Courier New"/>
                <a:sym typeface="Courier New"/>
              </a:rPr>
              <a:t>1</a:t>
            </a:r>
            <a:r>
              <a:rPr lang="en-US" sz="1300" b="0" i="0" u="none" strike="noStrike">
                <a:solidFill>
                  <a:srgbClr val="E6F0FF"/>
                </a:solidFill>
                <a:latin typeface="Courier New"/>
                <a:ea typeface="Courier New"/>
                <a:cs typeface="Courier New"/>
                <a:sym typeface="Courier New"/>
              </a:rPr>
              <a:t>)</a:t>
            </a:r>
          </a:p>
          <a:p>
            <a:pPr indent="0" algn="l">
              <a:lnSpc>
                <a:spcPct val="116666"/>
              </a:lnSpc>
            </a:pPr>
            <a:r>
              <a:rPr lang="en-US" sz="1300" b="0" i="0" u="none" strike="noStrike">
                <a:solidFill>
                  <a:srgbClr val="E6F0FF"/>
                </a:solidFill>
                <a:latin typeface="Courier New"/>
                <a:ea typeface="Courier New"/>
                <a:cs typeface="Courier New"/>
                <a:sym typeface="Courier New"/>
              </a:rPr>
              <a:t>v_match = re.search(</a:t>
            </a:r>
          </a:p>
          <a:p>
            <a:pPr indent="0" algn="l">
              <a:lnSpc>
                <a:spcPct val="116666"/>
              </a:lnSpc>
            </a:pPr>
            <a:r>
              <a:rPr lang="en-US" sz="1300" b="0" i="0" u="none" strike="noStrike">
                <a:solidFill>
                  <a:srgbClr val="E6F0FF"/>
                </a:solidFill>
                <a:latin typeface="Courier New"/>
                <a:ea typeface="Courier New"/>
                <a:cs typeface="Courier New"/>
                <a:sym typeface="Courier New"/>
              </a:rPr>
              <a:t>        </a:t>
            </a:r>
            <a:r>
              <a:rPr lang="en-US" sz="1300" b="0" i="0" u="none" strike="noStrike">
                <a:solidFill>
                  <a:srgbClr val="C89664"/>
                </a:solidFill>
                <a:latin typeface="Courier New"/>
                <a:ea typeface="Courier New"/>
                <a:cs typeface="Courier New"/>
                <a:sym typeface="Courier New"/>
              </a:rPr>
              <a:t>r'voltage[:\s]+([0-9.]+)'</a:t>
            </a:r>
            <a:r>
              <a:rPr lang="en-US" sz="1300" b="0" i="0" u="none" strike="noStrike">
                <a:solidFill>
                  <a:srgbClr val="E6F0FF"/>
                </a:solidFill>
                <a:latin typeface="Courier New"/>
                <a:ea typeface="Courier New"/>
                <a:cs typeface="Courier New"/>
                <a:sym typeface="Courier New"/>
              </a:rPr>
              <a:t>, line</a:t>
            </a:r>
          </a:p>
          <a:p>
            <a:pPr indent="0" algn="l">
              <a:lnSpc>
                <a:spcPct val="116666"/>
              </a:lnSpc>
            </a:pPr>
            <a:r>
              <a:rPr lang="en-US" sz="1300" b="0" i="0" u="none" strike="noStrike">
                <a:solidFill>
                  <a:srgbClr val="E6F0FF"/>
                </a:solidFill>
                <a:latin typeface="Courier New"/>
                <a:ea typeface="Courier New"/>
                <a:cs typeface="Courier New"/>
                <a:sym typeface="Courier New"/>
              </a:rPr>
              <a:t>)</a:t>
            </a:r>
          </a:p>
        </p:txBody>
      </p:sp>
      <p:sp>
        <p:nvSpPr>
          <p:cNvPr id="7" name="AutoShape 7"/>
          <p:cNvSpPr/>
          <p:nvPr/>
        </p:nvSpPr>
        <p:spPr>
          <a:xfrm>
            <a:off x="6350000" y="1905000"/>
            <a:ext cx="4826000" cy="1905000"/>
          </a:xfrm>
          <a:prstGeom prst="roundRect">
            <a:avLst>
              <a:gd name="adj" fmla="val 5333"/>
            </a:avLst>
          </a:prstGeom>
          <a:solidFill>
            <a:srgbClr val="FFFFFF">
              <a:alpha val="90000"/>
            </a:srgbClr>
          </a:solidFill>
          <a:ln w="25400" cap="flat" cmpd="sng">
            <a:solidFill>
              <a:srgbClr val="00A3A6">
                <a:alpha val="3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a:solidFill>
                  <a:srgbClr val="0B203F"/>
                </a:solidFill>
                <a:latin typeface="Inter"/>
                <a:ea typeface="Inter"/>
                <a:cs typeface="Inter"/>
                <a:sym typeface="Inter"/>
              </a:rPr>
              <a:t>2. Metrics Alignment</a:t>
            </a:r>
            <a:endParaRPr lang="en-US" sz="1100"/>
          </a:p>
          <a:p>
            <a:pPr indent="0" algn="l">
              <a:lnSpc>
                <a:spcPct val="125000"/>
              </a:lnSpc>
            </a:pPr>
            <a:r>
              <a:rPr lang="en-US" sz="1600" b="0" i="0" u="none" strike="noStrike">
                <a:solidFill>
                  <a:srgbClr val="263750"/>
                </a:solidFill>
                <a:latin typeface="Inter"/>
                <a:ea typeface="Inter"/>
                <a:cs typeface="Inter"/>
                <a:sym typeface="Inter"/>
              </a:rPr>
              <a:t>Align the extracted prediction dictionaries against the 118 true target arrays, then compute MAE and RMSE.</a:t>
            </a:r>
          </a:p>
        </p:txBody>
      </p:sp>
      <p:sp>
        <p:nvSpPr>
          <p:cNvPr id="8" name="AutoShape 8"/>
          <p:cNvSpPr/>
          <p:nvPr/>
        </p:nvSpPr>
        <p:spPr>
          <a:xfrm>
            <a:off x="6350000" y="3937000"/>
            <a:ext cx="4826000" cy="2286000"/>
          </a:xfrm>
          <a:prstGeom prst="roundRect">
            <a:avLst>
              <a:gd name="adj" fmla="val 4444"/>
            </a:avLst>
          </a:prstGeom>
          <a:solidFill>
            <a:srgbClr val="0B203F">
              <a:alpha val="5000"/>
            </a:srgbClr>
          </a:solidFill>
          <a:ln w="12700" cap="flat" cmpd="sng">
            <a:solidFill>
              <a:srgbClr val="0B203F">
                <a:alpha val="50000"/>
              </a:srgbClr>
            </a:solidFill>
            <a:prstDash val="solid"/>
            <a:round/>
          </a:ln>
        </p:spPr>
        <p:txBody>
          <a:bodyPr vert="horz" wrap="square" lIns="254000" tIns="254000" rIns="254000" bIns="0" rtlCol="0" anchor="ctr" anchorCtr="0">
            <a:normAutofit/>
          </a:bodyPr>
          <a:lstStyle/>
          <a:p>
            <a:pPr indent="0" algn="l">
              <a:lnSpc>
                <a:spcPct val="125000"/>
              </a:lnSpc>
              <a:defRPr/>
            </a:pPr>
            <a:r>
              <a:rPr lang="en-US" sz="2000" b="1" i="0" u="none" strike="noStrike">
                <a:solidFill>
                  <a:srgbClr val="0B203F"/>
                </a:solidFill>
                <a:latin typeface="Inter"/>
                <a:ea typeface="Inter"/>
                <a:cs typeface="Inter"/>
                <a:sym typeface="Inter"/>
              </a:rPr>
              <a:t>3. Replicability Test</a:t>
            </a:r>
            <a:endParaRPr lang="en-US" sz="1100"/>
          </a:p>
          <a:p>
            <a:pPr indent="0" algn="l">
              <a:lnSpc>
                <a:spcPct val="125000"/>
              </a:lnSpc>
            </a:pPr>
            <a:r>
              <a:rPr lang="en-US" sz="1600" b="0" i="1" u="none" strike="noStrike">
                <a:solidFill>
                  <a:srgbClr val="263750"/>
                </a:solidFill>
                <a:latin typeface="Inter"/>
                <a:ea typeface="Inter"/>
                <a:cs typeface="Inter"/>
                <a:sym typeface="Inter"/>
              </a:rPr>
              <a:t>Can a fresh LLM follow the rules?</a:t>
            </a:r>
          </a:p>
          <a:p>
            <a:pPr marL="203200" indent="-203200" algn="l">
              <a:lnSpc>
                <a:spcPct val="125000"/>
              </a:lnSpc>
              <a:buClr>
                <a:srgbClr val="263750"/>
              </a:buClr>
              <a:buChar char="•"/>
            </a:pPr>
            <a:r>
              <a:rPr lang="en-US" sz="1600" b="0" i="0" u="none" strike="noStrike">
                <a:solidFill>
                  <a:srgbClr val="263750"/>
                </a:solidFill>
                <a:latin typeface="Inter"/>
                <a:ea typeface="Inter"/>
                <a:cs typeface="Inter"/>
                <a:sym typeface="Inter"/>
              </a:rPr>
              <a:t>Extract compact IF-THEN rules.</a:t>
            </a:r>
          </a:p>
          <a:p>
            <a:pPr marL="203200" indent="-203200" algn="l">
              <a:lnSpc>
                <a:spcPct val="125000"/>
              </a:lnSpc>
              <a:buClr>
                <a:srgbClr val="263750"/>
              </a:buClr>
              <a:buChar char="•"/>
            </a:pPr>
            <a:r>
              <a:rPr lang="en-US" sz="1600" b="0" i="0" u="none" strike="noStrike">
                <a:solidFill>
                  <a:srgbClr val="263750"/>
                </a:solidFill>
                <a:latin typeface="Inter"/>
                <a:ea typeface="Inter"/>
                <a:cs typeface="Inter"/>
                <a:sym typeface="Inter"/>
              </a:rPr>
              <a:t>Ask a new LLM instance to predict using ONLY the rules (no memory of Phase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04 Baseline Finance</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a:bodyPr>
          <a:lstStyle/>
          <a:p>
            <a:pPr indent="0" algn="l">
              <a:lnSpc>
                <a:spcPct val="150000"/>
              </a:lnSpc>
              <a:defRPr/>
            </a:pPr>
            <a:r>
              <a:rPr lang="en-US" sz="2400" b="1" i="0" u="none" strike="noStrike">
                <a:solidFill>
                  <a:srgbClr val="263750"/>
                </a:solidFill>
                <a:latin typeface="Inter"/>
                <a:ea typeface="Inter"/>
                <a:cs typeface="Inter"/>
                <a:sym typeface="Inter"/>
              </a:rPr>
              <a:t>Goal: Baseline for a "stateful" environment.</a:t>
            </a:r>
            <a:endParaRPr lang="en-US" sz="1100"/>
          </a:p>
          <a:p>
            <a:pPr indent="0" algn="l">
              <a:lnSpc>
                <a:spcPct val="150000"/>
              </a:lnSpc>
            </a:pPr>
            <a:r>
              <a:rPr lang="en-US" sz="2000" b="0" i="0" u="none" strike="noStrike">
                <a:solidFill>
                  <a:srgbClr val="263750"/>
                </a:solidFill>
                <a:latin typeface="Inter"/>
                <a:ea typeface="Inter"/>
                <a:cs typeface="Inter"/>
                <a:sym typeface="Inter"/>
              </a:rPr>
              <a:t>Trains a machine learning pipeline using XGBoost to predict the S&amp;P 500 index.</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Task: Predict binary direction (UP or DOWN) for the following day.</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Features: Technical indicators (RSI, MACD, volatility, bands).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Evaluation: Accuracy Score and Confusion Matrix.</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Transparency: Extract SHAP values to identify key market signals.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04 Baseline Finance</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a:t>
            </a:r>
            <a:endParaRPr lang="en-US" sz="1100"/>
          </a:p>
        </p:txBody>
      </p:sp>
      <p:sp>
        <p:nvSpPr>
          <p:cNvPr id="5" name="AutoShape 5"/>
          <p:cNvSpPr/>
          <p:nvPr/>
        </p:nvSpPr>
        <p:spPr>
          <a:xfrm>
            <a:off x="1016000" y="1905000"/>
            <a:ext cx="5715000" cy="4191000"/>
          </a:xfrm>
          <a:prstGeom prst="roundRect">
            <a:avLst>
              <a:gd name="adj" fmla="val 2424"/>
            </a:avLst>
          </a:prstGeom>
          <a:solidFill>
            <a:srgbClr val="FFFFFF">
              <a:alpha val="90000"/>
            </a:srgbClr>
          </a:solidFill>
          <a:ln w="25400" cap="flat" cmpd="sng">
            <a:noFill/>
            <a:prstDash val="solid"/>
            <a:round/>
          </a:ln>
        </p:spPr>
        <p:txBody>
          <a:bodyPr vert="horz" wrap="square" lIns="381000" tIns="381000" rIns="381000" bIns="0" rtlCol="0" anchor="ctr" anchorCtr="0">
            <a:normAutofit/>
          </a:bodyPr>
          <a:lstStyle/>
          <a:p>
            <a:pPr indent="0" algn="l">
              <a:lnSpc>
                <a:spcPct val="133333"/>
              </a:lnSpc>
              <a:defRPr/>
            </a:pPr>
            <a:r>
              <a:rPr lang="en-US" sz="1800" b="1" i="0" u="none" strike="noStrike">
                <a:solidFill>
                  <a:srgbClr val="0B203F"/>
                </a:solidFill>
                <a:latin typeface="Inter"/>
                <a:ea typeface="Inter"/>
                <a:cs typeface="Inter"/>
                <a:sym typeface="Inter"/>
              </a:rPr>
              <a:t>Pipeline Execution:</a:t>
            </a:r>
            <a:endParaRPr lang="en-US" sz="1100"/>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Prevent Leakage:</a:t>
            </a:r>
            <a:r>
              <a:rPr lang="en-US" sz="1800" b="0" i="0" u="none" strike="noStrike">
                <a:solidFill>
                  <a:srgbClr val="263750"/>
                </a:solidFill>
                <a:latin typeface="Inter"/>
                <a:ea typeface="Inter"/>
                <a:cs typeface="Inter"/>
                <a:sym typeface="Inter"/>
              </a:rPr>
              <a:t> Drop </a:t>
            </a:r>
            <a:r>
              <a:rPr lang="en-US" sz="1800" b="0" i="0" u="none" strike="noStrike">
                <a:solidFill>
                  <a:srgbClr val="263750"/>
                </a:solidFill>
                <a:latin typeface="Courier New"/>
                <a:ea typeface="Courier New"/>
                <a:cs typeface="Courier New"/>
                <a:sym typeface="Courier New"/>
              </a:rPr>
              <a:t>date</a:t>
            </a:r>
            <a:r>
              <a:rPr lang="en-US" sz="1800" b="0" i="0" u="none" strike="noStrike">
                <a:solidFill>
                  <a:srgbClr val="263750"/>
                </a:solidFill>
                <a:latin typeface="Inter"/>
                <a:ea typeface="Inter"/>
                <a:cs typeface="Inter"/>
                <a:sym typeface="Inter"/>
              </a:rPr>
              <a:t> and </a:t>
            </a:r>
            <a:r>
              <a:rPr lang="en-US" sz="1800" b="0" i="0" u="none" strike="noStrike">
                <a:solidFill>
                  <a:srgbClr val="263750"/>
                </a:solidFill>
                <a:latin typeface="Courier New"/>
                <a:ea typeface="Courier New"/>
                <a:cs typeface="Courier New"/>
                <a:sym typeface="Courier New"/>
              </a:rPr>
              <a:t>next_return</a:t>
            </a:r>
            <a:r>
              <a:rPr lang="en-US" sz="1800" b="0" i="0" u="none" strike="noStrike">
                <a:solidFill>
                  <a:srgbClr val="263750"/>
                </a:solidFill>
                <a:latin typeface="Inter"/>
                <a:ea typeface="Inter"/>
                <a:cs typeface="Inter"/>
                <a:sym typeface="Inter"/>
              </a:rPr>
              <a:t> columns so the model doesn't "cheat".</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Train XGBClassifier:</a:t>
            </a:r>
            <a:r>
              <a:rPr lang="en-US" sz="1800" b="0" i="0" u="none" strike="noStrike">
                <a:solidFill>
                  <a:srgbClr val="263750"/>
                </a:solidFill>
                <a:latin typeface="Inter"/>
                <a:ea typeface="Inter"/>
                <a:cs typeface="Inter"/>
                <a:sym typeface="Inter"/>
              </a:rPr>
              <a:t> Optimize hyperparameters (e.g., max_depth, learning_rate).</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Evaluate:</a:t>
            </a:r>
            <a:r>
              <a:rPr lang="en-US" sz="1800" b="0" i="0" u="none" strike="noStrike">
                <a:solidFill>
                  <a:srgbClr val="263750"/>
                </a:solidFill>
                <a:latin typeface="Inter"/>
                <a:ea typeface="Inter"/>
                <a:cs typeface="Inter"/>
                <a:sym typeface="Inter"/>
              </a:rPr>
              <a:t> Generate Accuracy Score and Confusion Matrix.</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Interpret:</a:t>
            </a:r>
            <a:r>
              <a:rPr lang="en-US" sz="1800" b="0" i="0" u="none" strike="noStrike">
                <a:solidFill>
                  <a:srgbClr val="263750"/>
                </a:solidFill>
                <a:latin typeface="Inter"/>
                <a:ea typeface="Inter"/>
                <a:cs typeface="Inter"/>
                <a:sym typeface="Inter"/>
              </a:rPr>
              <a:t> Compute SHAP feature importance and save to JSON.</a:t>
            </a:r>
          </a:p>
        </p:txBody>
      </p:sp>
      <p:sp>
        <p:nvSpPr>
          <p:cNvPr id="6" name="AutoShape 6"/>
          <p:cNvSpPr/>
          <p:nvPr/>
        </p:nvSpPr>
        <p:spPr>
          <a:xfrm>
            <a:off x="7112000" y="1905000"/>
            <a:ext cx="3810000" cy="1905000"/>
          </a:xfrm>
          <a:prstGeom prst="roundRect">
            <a:avLst>
              <a:gd name="adj" fmla="val 5333"/>
            </a:avLst>
          </a:prstGeom>
          <a:solidFill>
            <a:srgbClr val="F0F5FA">
              <a:alpha val="100000"/>
            </a:srgbClr>
          </a:solidFill>
          <a:ln w="25400" cap="flat" cmpd="sng">
            <a:solidFill>
              <a:srgbClr val="00A3A6">
                <a:alpha val="50000"/>
              </a:srgbClr>
            </a:solidFill>
            <a:prstDash val="solid"/>
            <a:round/>
          </a:ln>
        </p:spPr>
        <p:txBody>
          <a:bodyPr vert="horz" wrap="square" lIns="127000" tIns="254000" rIns="127000" bIns="0" rtlCol="0" anchor="ctr" anchorCtr="0">
            <a:normAutofit/>
          </a:bodyPr>
          <a:lstStyle/>
          <a:p>
            <a:pPr indent="0" algn="ctr">
              <a:lnSpc>
                <a:spcPct val="116666"/>
              </a:lnSpc>
              <a:defRPr/>
            </a:pPr>
            <a:r>
              <a:rPr lang="en-US" sz="1600" b="1" i="0" u="none" strike="noStrike">
                <a:solidFill>
                  <a:srgbClr val="0B203F"/>
                </a:solidFill>
                <a:latin typeface="Inter"/>
                <a:ea typeface="Inter"/>
                <a:cs typeface="Inter"/>
                <a:sym typeface="Inter"/>
              </a:rPr>
              <a:t>Confusion Matrix</a:t>
            </a:r>
            <a:endParaRPr lang="en-US" sz="1100"/>
          </a:p>
          <a:p>
            <a:pPr indent="0" algn="ctr">
              <a:lnSpc>
                <a:spcPct val="116666"/>
              </a:lnSpc>
            </a:pPr>
            <a:r>
              <a:rPr lang="en-US" sz="1600" b="0" i="0" u="none" strike="noStrike">
                <a:solidFill>
                  <a:srgbClr val="263750"/>
                </a:solidFill>
                <a:latin typeface="Inter"/>
                <a:ea typeface="Inter"/>
                <a:cs typeface="Inter"/>
                <a:sym typeface="Inter"/>
              </a:rPr>
              <a:t>Analyzes balance of predictions:</a:t>
            </a:r>
          </a:p>
          <a:p>
            <a:pPr indent="0" algn="ctr">
              <a:lnSpc>
                <a:spcPct val="116666"/>
              </a:lnSpc>
            </a:pPr>
            <a:r>
              <a:rPr lang="en-US" sz="1600" b="0" i="0" u="none" strike="noStrike">
                <a:solidFill>
                  <a:srgbClr val="263750"/>
                </a:solidFill>
                <a:latin typeface="Inter"/>
                <a:ea typeface="Inter"/>
                <a:cs typeface="Inter"/>
                <a:sym typeface="Inter"/>
              </a:rPr>
              <a:t>Predicted UP vs. Predicted DOWN</a:t>
            </a:r>
          </a:p>
        </p:txBody>
      </p:sp>
      <p:sp>
        <p:nvSpPr>
          <p:cNvPr id="7" name="AutoShape 7"/>
          <p:cNvSpPr/>
          <p:nvPr/>
        </p:nvSpPr>
        <p:spPr>
          <a:xfrm>
            <a:off x="7112000" y="4191000"/>
            <a:ext cx="3810000" cy="1905000"/>
          </a:xfrm>
          <a:prstGeom prst="roundRect">
            <a:avLst>
              <a:gd name="adj" fmla="val 5333"/>
            </a:avLst>
          </a:prstGeom>
          <a:solidFill>
            <a:srgbClr val="0B203F">
              <a:alpha val="100000"/>
            </a:srgbClr>
          </a:solidFill>
          <a:ln w="25400" cap="flat" cmpd="sng">
            <a:noFill/>
            <a:prstDash val="solid"/>
            <a:round/>
          </a:ln>
        </p:spPr>
        <p:txBody>
          <a:bodyPr vert="horz" wrap="square" lIns="254000" tIns="254000" rIns="254000" bIns="0" rtlCol="0" anchor="ctr" anchorCtr="0">
            <a:normAutofit lnSpcReduction="10000"/>
          </a:bodyPr>
          <a:lstStyle/>
          <a:p>
            <a:pPr indent="0" algn="l">
              <a:lnSpc>
                <a:spcPct val="116666"/>
              </a:lnSpc>
              <a:defRPr/>
            </a:pPr>
            <a:r>
              <a:rPr lang="en-US" sz="1300" b="0" i="0" u="none" strike="noStrike">
                <a:solidFill>
                  <a:srgbClr val="969696"/>
                </a:solidFill>
                <a:latin typeface="Courier New"/>
                <a:ea typeface="Courier New"/>
                <a:cs typeface="Courier New"/>
                <a:sym typeface="Courier New"/>
              </a:rPr>
              <a:t># Train Classifier</a:t>
            </a:r>
            <a:endParaRPr lang="en-US" sz="1100"/>
          </a:p>
          <a:p>
            <a:pPr indent="0" algn="l">
              <a:lnSpc>
                <a:spcPct val="116666"/>
              </a:lnSpc>
            </a:pPr>
            <a:r>
              <a:rPr lang="en-US" sz="1300" b="0" i="0" u="none" strike="noStrike">
                <a:solidFill>
                  <a:srgbClr val="E6F0FF"/>
                </a:solidFill>
                <a:latin typeface="Courier New"/>
                <a:ea typeface="Courier New"/>
                <a:cs typeface="Courier New"/>
                <a:sym typeface="Courier New"/>
              </a:rPr>
              <a:t>clf = XGBClassifier(</a:t>
            </a:r>
          </a:p>
          <a:p>
            <a:pPr indent="0" algn="l">
              <a:lnSpc>
                <a:spcPct val="116666"/>
              </a:lnSpc>
            </a:pPr>
            <a:r>
              <a:rPr lang="en-US" sz="1300" b="0" i="0" u="none" strike="noStrike">
                <a:solidFill>
                  <a:srgbClr val="E6F0FF"/>
                </a:solidFill>
                <a:latin typeface="Courier New"/>
                <a:ea typeface="Courier New"/>
                <a:cs typeface="Courier New"/>
                <a:sym typeface="Courier New"/>
              </a:rPr>
              <a:t>max_depth=</a:t>
            </a:r>
            <a:r>
              <a:rPr lang="en-US" sz="1300" b="0" i="0" u="none" strike="noStrike">
                <a:solidFill>
                  <a:srgbClr val="FF9696"/>
                </a:solidFill>
                <a:latin typeface="Courier New"/>
                <a:ea typeface="Courier New"/>
                <a:cs typeface="Courier New"/>
                <a:sym typeface="Courier New"/>
              </a:rPr>
              <a:t>6</a:t>
            </a:r>
            <a:r>
              <a:rPr lang="en-US" sz="1300" b="0" i="0" u="none" strike="noStrike">
                <a:solidFill>
                  <a:srgbClr val="E6F0FF"/>
                </a:solidFill>
                <a:latin typeface="Courier New"/>
                <a:ea typeface="Courier New"/>
                <a:cs typeface="Courier New"/>
                <a:sym typeface="Courier New"/>
              </a:rPr>
              <a:t>,</a:t>
            </a:r>
          </a:p>
          <a:p>
            <a:pPr indent="0" algn="l">
              <a:lnSpc>
                <a:spcPct val="116666"/>
              </a:lnSpc>
            </a:pPr>
            <a:r>
              <a:rPr lang="en-US" sz="1300" b="0" i="0" u="none" strike="noStrike">
                <a:solidFill>
                  <a:srgbClr val="E6F0FF"/>
                </a:solidFill>
                <a:latin typeface="Courier New"/>
                <a:ea typeface="Courier New"/>
                <a:cs typeface="Courier New"/>
                <a:sym typeface="Courier New"/>
              </a:rPr>
              <a:t>learning_rate=</a:t>
            </a:r>
            <a:r>
              <a:rPr lang="en-US" sz="1300" b="0" i="0" u="none" strike="noStrike">
                <a:solidFill>
                  <a:srgbClr val="FF9696"/>
                </a:solidFill>
                <a:latin typeface="Courier New"/>
                <a:ea typeface="Courier New"/>
                <a:cs typeface="Courier New"/>
                <a:sym typeface="Courier New"/>
              </a:rPr>
              <a:t>0.1</a:t>
            </a:r>
            <a:r>
              <a:rPr lang="en-US" sz="1300" b="0" i="0" u="none" strike="noStrike">
                <a:solidFill>
                  <a:srgbClr val="E6F0FF"/>
                </a:solidFill>
                <a:latin typeface="Courier New"/>
                <a:ea typeface="Courier New"/>
                <a:cs typeface="Courier New"/>
                <a:sym typeface="Courier New"/>
              </a:rPr>
              <a:t>,</a:t>
            </a:r>
          </a:p>
          <a:p>
            <a:pPr indent="0" algn="l">
              <a:lnSpc>
                <a:spcPct val="116666"/>
              </a:lnSpc>
            </a:pPr>
            <a:r>
              <a:rPr lang="en-US" sz="1300" b="0" i="0" u="none" strike="noStrike">
                <a:solidFill>
                  <a:srgbClr val="E6F0FF"/>
                </a:solidFill>
                <a:latin typeface="Courier New"/>
                <a:ea typeface="Courier New"/>
                <a:cs typeface="Courier New"/>
                <a:sym typeface="Courier New"/>
              </a:rPr>
              <a:t>eval_metric=</a:t>
            </a:r>
            <a:r>
              <a:rPr lang="en-US" sz="1300" b="0" i="0" u="none" strike="noStrike">
                <a:solidFill>
                  <a:srgbClr val="C89664"/>
                </a:solidFill>
                <a:latin typeface="Courier New"/>
                <a:ea typeface="Courier New"/>
                <a:cs typeface="Courier New"/>
                <a:sym typeface="Courier New"/>
              </a:rPr>
              <a:t>'logloss'</a:t>
            </a:r>
          </a:p>
          <a:p>
            <a:pPr indent="0" algn="l">
              <a:lnSpc>
                <a:spcPct val="116666"/>
              </a:lnSpc>
            </a:pPr>
            <a:r>
              <a:rPr lang="en-US" sz="1300" b="0" i="0" u="none" strike="noStrike">
                <a:solidFill>
                  <a:srgbClr val="E6F0FF"/>
                </a:solidFill>
                <a:latin typeface="Courier New"/>
                <a:ea typeface="Courier New"/>
                <a:cs typeface="Courier New"/>
                <a:sym typeface="Courier New"/>
              </a:rPr>
              <a:t>)</a:t>
            </a:r>
          </a:p>
          <a:p>
            <a:pPr indent="0" algn="l">
              <a:lnSpc>
                <a:spcPct val="116666"/>
              </a:lnSpc>
            </a:pPr>
            <a:r>
              <a:rPr lang="en-US" sz="1300" b="0" i="0" u="none" strike="noStrike">
                <a:solidFill>
                  <a:srgbClr val="E6F0FF"/>
                </a:solidFill>
                <a:latin typeface="Courier New"/>
                <a:ea typeface="Courier New"/>
                <a:cs typeface="Courier New"/>
                <a:sym typeface="Courier New"/>
              </a:rPr>
              <a:t>clf.fit(X_train, y_train)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05 LLMIP Finance</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a:bodyPr>
          <a:lstStyle/>
          <a:p>
            <a:pPr indent="0" algn="l">
              <a:lnSpc>
                <a:spcPct val="150000"/>
              </a:lnSpc>
              <a:defRPr/>
            </a:pPr>
            <a:r>
              <a:rPr lang="en-US" sz="2400" b="1" i="0" u="none" strike="noStrike" dirty="0">
                <a:solidFill>
                  <a:srgbClr val="263750"/>
                </a:solidFill>
                <a:latin typeface="Inter"/>
                <a:ea typeface="Inter"/>
                <a:cs typeface="Inter"/>
                <a:sym typeface="Inter"/>
              </a:rPr>
              <a:t>Goal: LLM as a Quantitative Analyst.</a:t>
            </a:r>
            <a:endParaRPr lang="en-US" sz="1100" dirty="0"/>
          </a:p>
          <a:p>
            <a:pPr indent="0" algn="l">
              <a:lnSpc>
                <a:spcPct val="150000"/>
              </a:lnSpc>
            </a:pPr>
            <a:r>
              <a:rPr lang="en-US" sz="2000" b="0" i="0" u="none" strike="noStrike" dirty="0">
                <a:solidFill>
                  <a:srgbClr val="263750"/>
                </a:solidFill>
                <a:latin typeface="Inter"/>
                <a:ea typeface="Inter"/>
                <a:cs typeface="Inter"/>
                <a:sym typeface="Inter"/>
              </a:rPr>
              <a:t>Applies the LLM Inference Pipeline to stateful, time-series market data:</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Tests if the LLM can predict market direction (UP/DOWN).</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Extracts a human-readable </a:t>
            </a:r>
            <a:r>
              <a:rPr lang="en-US" sz="2000" b="1" i="0" u="none" strike="noStrike" dirty="0">
                <a:solidFill>
                  <a:srgbClr val="263750"/>
                </a:solidFill>
                <a:latin typeface="Inter"/>
                <a:ea typeface="Inter"/>
                <a:cs typeface="Inter"/>
                <a:sym typeface="Inter"/>
              </a:rPr>
              <a:t>IF-THEN Rulebook</a:t>
            </a:r>
            <a:r>
              <a:rPr lang="en-US" sz="2000" b="0" i="0" u="none" strike="noStrike" dirty="0">
                <a:solidFill>
                  <a:srgbClr val="263750"/>
                </a:solidFill>
                <a:latin typeface="Inter"/>
                <a:ea typeface="Inter"/>
                <a:cs typeface="Inter"/>
                <a:sym typeface="Inter"/>
              </a:rPr>
              <a:t> based on the LLM's own predictions.</a:t>
            </a:r>
          </a:p>
          <a:p>
            <a:pPr marL="254000" indent="-254000" algn="l">
              <a:lnSpc>
                <a:spcPct val="150000"/>
              </a:lnSpc>
              <a:buClr>
                <a:srgbClr val="263750"/>
              </a:buClr>
              <a:buChar char="•"/>
            </a:pPr>
            <a:r>
              <a:rPr lang="en-US" sz="2000" b="0" i="0" u="none" strike="noStrike" dirty="0">
                <a:solidFill>
                  <a:srgbClr val="263750"/>
                </a:solidFill>
                <a:latin typeface="Inter"/>
                <a:ea typeface="Inter"/>
                <a:cs typeface="Inter"/>
                <a:sym typeface="Inter"/>
              </a:rPr>
              <a:t>Validates "replicability“ to see if can the </a:t>
            </a:r>
            <a:r>
              <a:rPr lang="en-US" sz="2000" dirty="0">
                <a:solidFill>
                  <a:srgbClr val="263750"/>
                </a:solidFill>
                <a:latin typeface="Inter"/>
                <a:ea typeface="Inter"/>
                <a:cs typeface="Inter"/>
                <a:sym typeface="Inter"/>
              </a:rPr>
              <a:t>LLM</a:t>
            </a:r>
            <a:r>
              <a:rPr lang="en-US" sz="2000" b="0" i="0" u="none" strike="noStrike" dirty="0">
                <a:solidFill>
                  <a:srgbClr val="263750"/>
                </a:solidFill>
                <a:latin typeface="Inter"/>
                <a:ea typeface="Inter"/>
                <a:cs typeface="Inter"/>
                <a:sym typeface="Inter"/>
              </a:rPr>
              <a:t> strictly follow the rules it generated?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05 LLMIP Finance</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 Four Phases</a:t>
            </a:r>
            <a:endParaRPr lang="en-US" sz="1100"/>
          </a:p>
        </p:txBody>
      </p:sp>
      <p:sp>
        <p:nvSpPr>
          <p:cNvPr id="5" name="AutoShape 5"/>
          <p:cNvSpPr/>
          <p:nvPr/>
        </p:nvSpPr>
        <p:spPr>
          <a:xfrm>
            <a:off x="1016000" y="2032000"/>
            <a:ext cx="4826000" cy="1651000"/>
          </a:xfrm>
          <a:prstGeom prst="roundRect">
            <a:avLst>
              <a:gd name="adj" fmla="val 6153"/>
            </a:avLst>
          </a:prstGeom>
          <a:solidFill>
            <a:srgbClr val="FFFFFF">
              <a:alpha val="90000"/>
            </a:srgbClr>
          </a:solidFill>
          <a:ln w="25400" cap="flat" cmpd="sng">
            <a:solidFill>
              <a:srgbClr val="00A3A6">
                <a:alpha val="5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a:solidFill>
                  <a:srgbClr val="0B203F"/>
                </a:solidFill>
                <a:latin typeface="Inter"/>
                <a:ea typeface="Inter"/>
                <a:cs typeface="Inter"/>
                <a:sym typeface="Inter"/>
              </a:rPr>
              <a:t>Phase 1: Pattern Analysis</a:t>
            </a:r>
            <a:endParaRPr lang="en-US" sz="1100"/>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Feed historical subset to LLM.</a:t>
            </a:r>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Prompt LLM to describe 3 predictive patterns in plain language.</a:t>
            </a:r>
          </a:p>
        </p:txBody>
      </p:sp>
      <p:sp>
        <p:nvSpPr>
          <p:cNvPr id="6" name="AutoShape 6"/>
          <p:cNvSpPr/>
          <p:nvPr/>
        </p:nvSpPr>
        <p:spPr>
          <a:xfrm>
            <a:off x="6350000" y="2032000"/>
            <a:ext cx="4826000" cy="1651000"/>
          </a:xfrm>
          <a:prstGeom prst="roundRect">
            <a:avLst>
              <a:gd name="adj" fmla="val 6153"/>
            </a:avLst>
          </a:prstGeom>
          <a:solidFill>
            <a:srgbClr val="FFFFFF">
              <a:alpha val="90000"/>
            </a:srgbClr>
          </a:solidFill>
          <a:ln w="25400" cap="flat" cmpd="sng">
            <a:solidFill>
              <a:srgbClr val="00A3A6">
                <a:alpha val="5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a:solidFill>
                  <a:srgbClr val="0B203F"/>
                </a:solidFill>
                <a:latin typeface="Inter"/>
                <a:ea typeface="Inter"/>
                <a:cs typeface="Inter"/>
                <a:sym typeface="Inter"/>
              </a:rPr>
              <a:t>Phase 2: Live Predictions</a:t>
            </a:r>
            <a:endParaRPr lang="en-US" sz="1100"/>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Iterate through test samples.</a:t>
            </a:r>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Provide indicators and ask for a binary prediction (0=DOWN, 1=UP).</a:t>
            </a:r>
          </a:p>
        </p:txBody>
      </p:sp>
      <p:sp>
        <p:nvSpPr>
          <p:cNvPr id="7" name="AutoShape 7"/>
          <p:cNvSpPr/>
          <p:nvPr/>
        </p:nvSpPr>
        <p:spPr>
          <a:xfrm>
            <a:off x="1016000" y="4191000"/>
            <a:ext cx="4826000" cy="1651000"/>
          </a:xfrm>
          <a:prstGeom prst="roundRect">
            <a:avLst>
              <a:gd name="adj" fmla="val 6153"/>
            </a:avLst>
          </a:prstGeom>
          <a:solidFill>
            <a:srgbClr val="FFFFFF">
              <a:alpha val="90000"/>
            </a:srgbClr>
          </a:solidFill>
          <a:ln w="25400" cap="flat" cmpd="sng">
            <a:solidFill>
              <a:srgbClr val="00A3A6">
                <a:alpha val="5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dirty="0">
                <a:solidFill>
                  <a:srgbClr val="0B203F"/>
                </a:solidFill>
                <a:latin typeface="Inter"/>
                <a:ea typeface="Inter"/>
                <a:cs typeface="Inter"/>
                <a:sym typeface="Inter"/>
              </a:rPr>
              <a:t>Phase 3: Rulebook Extraction</a:t>
            </a:r>
            <a:endParaRPr lang="en-US" sz="1100" dirty="0"/>
          </a:p>
          <a:p>
            <a:pPr marL="203200" indent="-203200" algn="l">
              <a:lnSpc>
                <a:spcPct val="116666"/>
              </a:lnSpc>
              <a:buClr>
                <a:srgbClr val="263750"/>
              </a:buClr>
              <a:buChar char="•"/>
            </a:pPr>
            <a:r>
              <a:rPr lang="en-US" sz="1600" b="0" i="0" u="none" strike="noStrike" dirty="0">
                <a:solidFill>
                  <a:srgbClr val="263750"/>
                </a:solidFill>
                <a:latin typeface="Inter"/>
                <a:ea typeface="Inter"/>
                <a:cs typeface="Inter"/>
                <a:sym typeface="Inter"/>
              </a:rPr>
              <a:t>LLM reviews its own performance.</a:t>
            </a:r>
          </a:p>
          <a:p>
            <a:pPr marL="203200" indent="-203200" algn="l">
              <a:lnSpc>
                <a:spcPct val="116666"/>
              </a:lnSpc>
              <a:buClr>
                <a:srgbClr val="263750"/>
              </a:buClr>
              <a:buChar char="•"/>
            </a:pPr>
            <a:r>
              <a:rPr lang="en-US" sz="1600" b="0" i="0" u="none" strike="noStrike" dirty="0">
                <a:solidFill>
                  <a:srgbClr val="263750"/>
                </a:solidFill>
                <a:latin typeface="Inter"/>
                <a:ea typeface="Inter"/>
                <a:cs typeface="Inter"/>
                <a:sym typeface="Inter"/>
              </a:rPr>
              <a:t>Synthesizes experience into 3-4 simple </a:t>
            </a:r>
            <a:r>
              <a:rPr lang="en-US" sz="1600" b="1" i="0" u="none" strike="noStrike" dirty="0">
                <a:solidFill>
                  <a:srgbClr val="263750"/>
                </a:solidFill>
                <a:latin typeface="Inter"/>
                <a:ea typeface="Inter"/>
                <a:cs typeface="Inter"/>
                <a:sym typeface="Inter"/>
              </a:rPr>
              <a:t>IF-THEN</a:t>
            </a:r>
            <a:r>
              <a:rPr lang="en-US" sz="1600" b="0" i="0" u="none" strike="noStrike" dirty="0">
                <a:solidFill>
                  <a:srgbClr val="263750"/>
                </a:solidFill>
                <a:latin typeface="Inter"/>
                <a:ea typeface="Inter"/>
                <a:cs typeface="Inter"/>
                <a:sym typeface="Inter"/>
              </a:rPr>
              <a:t> rules.</a:t>
            </a:r>
          </a:p>
        </p:txBody>
      </p:sp>
      <p:sp>
        <p:nvSpPr>
          <p:cNvPr id="8" name="AutoShape 8"/>
          <p:cNvSpPr/>
          <p:nvPr/>
        </p:nvSpPr>
        <p:spPr>
          <a:xfrm>
            <a:off x="6350000" y="4191000"/>
            <a:ext cx="4826000" cy="1651000"/>
          </a:xfrm>
          <a:prstGeom prst="roundRect">
            <a:avLst>
              <a:gd name="adj" fmla="val 6153"/>
            </a:avLst>
          </a:prstGeom>
          <a:solidFill>
            <a:srgbClr val="FFFFFF">
              <a:alpha val="90000"/>
            </a:srgbClr>
          </a:solidFill>
          <a:ln w="25400" cap="flat" cmpd="sng">
            <a:solidFill>
              <a:srgbClr val="00A3A6">
                <a:alpha val="50000"/>
              </a:srgbClr>
            </a:solidFill>
            <a:prstDash val="solid"/>
            <a:round/>
          </a:ln>
        </p:spPr>
        <p:txBody>
          <a:bodyPr vert="horz" wrap="square" lIns="254000" tIns="254000" rIns="254000" bIns="0" rtlCol="0" anchor="ctr" anchorCtr="0">
            <a:normAutofit/>
          </a:bodyPr>
          <a:lstStyle/>
          <a:p>
            <a:pPr indent="0" algn="l">
              <a:lnSpc>
                <a:spcPct val="116666"/>
              </a:lnSpc>
              <a:defRPr/>
            </a:pPr>
            <a:r>
              <a:rPr lang="en-US" sz="1800" b="1" i="0" u="none" strike="noStrike">
                <a:solidFill>
                  <a:srgbClr val="0B203F"/>
                </a:solidFill>
                <a:latin typeface="Inter"/>
                <a:ea typeface="Inter"/>
                <a:cs typeface="Inter"/>
                <a:sym typeface="Inter"/>
              </a:rPr>
              <a:t>Phase 4: Replicability Validation</a:t>
            </a:r>
            <a:endParaRPr lang="en-US" sz="1100"/>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Re-run predictions on the same samples.</a:t>
            </a:r>
          </a:p>
          <a:p>
            <a:pPr marL="203200" indent="-203200" algn="l">
              <a:lnSpc>
                <a:spcPct val="116666"/>
              </a:lnSpc>
              <a:buClr>
                <a:srgbClr val="263750"/>
              </a:buClr>
              <a:buChar char="•"/>
            </a:pPr>
            <a:r>
              <a:rPr lang="en-US" sz="1600" b="0" i="0" u="none" strike="noStrike">
                <a:solidFill>
                  <a:srgbClr val="263750"/>
                </a:solidFill>
                <a:latin typeface="Inter"/>
                <a:ea typeface="Inter"/>
                <a:cs typeface="Inter"/>
                <a:sym typeface="Inter"/>
              </a:rPr>
              <a:t>LLM </a:t>
            </a:r>
            <a:r>
              <a:rPr lang="en-US" sz="1600" b="0" i="1" u="none" strike="noStrike">
                <a:solidFill>
                  <a:srgbClr val="263750"/>
                </a:solidFill>
                <a:latin typeface="Inter"/>
                <a:ea typeface="Inter"/>
                <a:cs typeface="Inter"/>
                <a:sym typeface="Inter"/>
              </a:rPr>
              <a:t>must</a:t>
            </a:r>
            <a:r>
              <a:rPr lang="en-US" sz="1600" b="0" i="0" u="none" strike="noStrike">
                <a:solidFill>
                  <a:srgbClr val="263750"/>
                </a:solidFill>
                <a:latin typeface="Inter"/>
                <a:ea typeface="Inter"/>
                <a:cs typeface="Inter"/>
                <a:sym typeface="Inter"/>
              </a:rPr>
              <a:t> strictly follow the extracted IF-THEN rulebook.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06 Comparison Analysis</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What this file does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5000"/>
            </a:srgbClr>
          </a:solidFill>
          <a:ln w="12700" cap="flat" cmpd="sng">
            <a:solidFill>
              <a:srgbClr val="00A3A6">
                <a:alpha val="30000"/>
              </a:srgbClr>
            </a:solidFill>
            <a:prstDash val="solid"/>
            <a:round/>
          </a:ln>
          <a:effectLst>
            <a:outerShdw blurRad="190500" dist="101600" dir="2700000" algn="tl" rotWithShape="0">
              <a:srgbClr val="000000">
                <a:alpha val="5000"/>
              </a:srgbClr>
            </a:outerShdw>
          </a:effectLst>
        </p:spPr>
        <p:txBody>
          <a:bodyPr vert="horz" wrap="square" lIns="508000" tIns="508000" rIns="508000" bIns="0" rtlCol="0" anchor="ctr" anchorCtr="0">
            <a:normAutofit/>
          </a:bodyPr>
          <a:lstStyle/>
          <a:p>
            <a:pPr indent="0" algn="l">
              <a:lnSpc>
                <a:spcPct val="150000"/>
              </a:lnSpc>
              <a:defRPr/>
            </a:pPr>
            <a:r>
              <a:rPr lang="en-US" sz="2400" b="1" i="0" u="none" strike="noStrike">
                <a:solidFill>
                  <a:srgbClr val="263750"/>
                </a:solidFill>
                <a:latin typeface="Inter"/>
                <a:ea typeface="Inter"/>
                <a:cs typeface="Inter"/>
                <a:sym typeface="Inter"/>
              </a:rPr>
              <a:t>Goal: Final evaluation across both domains.</a:t>
            </a:r>
            <a:endParaRPr lang="en-US" sz="1100"/>
          </a:p>
          <a:p>
            <a:pPr indent="0" algn="l">
              <a:lnSpc>
                <a:spcPct val="150000"/>
              </a:lnSpc>
            </a:pPr>
            <a:r>
              <a:rPr lang="en-US" sz="2000" b="0" i="0" u="none" strike="noStrike">
                <a:solidFill>
                  <a:srgbClr val="263750"/>
                </a:solidFill>
                <a:latin typeface="Inter"/>
                <a:ea typeface="Inter"/>
                <a:cs typeface="Inter"/>
                <a:sym typeface="Inter"/>
              </a:rPr>
              <a:t>Aggregates results from Grid (stateless) and Financial (stateful) experiments: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Loads performance JSON files from Baseline and LLMIP notebooks.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Highlights metric differences (MAE for regression, Accuracy for classification).</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Calculates the "Replicability Score" for the LLM approaches.</a:t>
            </a:r>
          </a:p>
          <a:p>
            <a:pPr marL="254000" indent="-254000" algn="l">
              <a:lnSpc>
                <a:spcPct val="150000"/>
              </a:lnSpc>
              <a:buClr>
                <a:srgbClr val="263750"/>
              </a:buClr>
              <a:buChar char="•"/>
            </a:pPr>
            <a:r>
              <a:rPr lang="en-US" sz="2000" b="0" i="0" u="none" strike="noStrike">
                <a:solidFill>
                  <a:srgbClr val="263750"/>
                </a:solidFill>
                <a:latin typeface="Inter"/>
                <a:ea typeface="Inter"/>
                <a:cs typeface="Inter"/>
                <a:sym typeface="Inter"/>
              </a:rPr>
              <a:t>Generates final diagnostic figures and narrative summaries.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0B203F"/>
                </a:solidFill>
                <a:latin typeface="Inter"/>
                <a:ea typeface="Inter"/>
                <a:cs typeface="Inter"/>
                <a:sym typeface="Inter"/>
              </a:rPr>
              <a:t>06 Comparison Analysis</a:t>
            </a:r>
            <a:endParaRPr lang="en-US" sz="1100"/>
          </a:p>
        </p:txBody>
      </p:sp>
      <p:sp>
        <p:nvSpPr>
          <p:cNvPr id="4" name="AutoShape 4"/>
          <p:cNvSpPr/>
          <p:nvPr/>
        </p:nvSpPr>
        <p:spPr>
          <a:xfrm>
            <a:off x="1016000" y="1270000"/>
            <a:ext cx="10668000" cy="381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1800" b="0" i="0" u="none" strike="noStrike">
                <a:solidFill>
                  <a:srgbClr val="00A3A6"/>
                </a:solidFill>
                <a:latin typeface="Inter"/>
                <a:ea typeface="Inter"/>
                <a:cs typeface="Inter"/>
                <a:sym typeface="Inter"/>
              </a:rPr>
              <a:t>How it works</a:t>
            </a:r>
            <a:endParaRPr lang="en-US" sz="1100"/>
          </a:p>
        </p:txBody>
      </p:sp>
      <p:sp>
        <p:nvSpPr>
          <p:cNvPr id="5" name="AutoShape 5"/>
          <p:cNvSpPr/>
          <p:nvPr/>
        </p:nvSpPr>
        <p:spPr>
          <a:xfrm>
            <a:off x="1016000" y="2032000"/>
            <a:ext cx="10160000" cy="3556000"/>
          </a:xfrm>
          <a:prstGeom prst="roundRect">
            <a:avLst>
              <a:gd name="adj" fmla="val 4285"/>
            </a:avLst>
          </a:prstGeom>
          <a:solidFill>
            <a:srgbClr val="FFFFFF">
              <a:alpha val="90000"/>
            </a:srgbClr>
          </a:solidFill>
          <a:ln w="12700" cap="flat" cmpd="sng">
            <a:solidFill>
              <a:srgbClr val="00A3A6">
                <a:alpha val="50000"/>
              </a:srgbClr>
            </a:solidFill>
            <a:prstDash val="solid"/>
            <a:round/>
          </a:ln>
        </p:spPr>
        <p:txBody>
          <a:bodyPr vert="horz" wrap="square" lIns="508000" tIns="508000" rIns="508000" bIns="0" rtlCol="0" anchor="ctr" anchorCtr="0">
            <a:normAutofit/>
          </a:bodyPr>
          <a:lstStyle/>
          <a:p>
            <a:pPr indent="0" algn="l">
              <a:lnSpc>
                <a:spcPct val="133333"/>
              </a:lnSpc>
              <a:defRPr/>
            </a:pPr>
            <a:r>
              <a:rPr lang="en-US" sz="1800" b="1" i="0" u="none" strike="noStrike">
                <a:solidFill>
                  <a:srgbClr val="0B203F"/>
                </a:solidFill>
                <a:latin typeface="Inter"/>
                <a:ea typeface="Inter"/>
                <a:cs typeface="Inter"/>
                <a:sym typeface="Inter"/>
              </a:rPr>
              <a:t>Data Aggregation Workflow:</a:t>
            </a:r>
            <a:endParaRPr lang="en-US" sz="1100"/>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Load Data:</a:t>
            </a:r>
            <a:r>
              <a:rPr lang="en-US" sz="1800" b="0" i="0" u="none" strike="noStrike">
                <a:solidFill>
                  <a:srgbClr val="263750"/>
                </a:solidFill>
                <a:latin typeface="Inter"/>
                <a:ea typeface="Inter"/>
                <a:cs typeface="Inter"/>
                <a:sym typeface="Inter"/>
              </a:rPr>
              <a:t> Import 4 JSON files (Grid Baseline, Grid LLMIP, Finance Baseline, Finance LLMIP).</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Build Table:</a:t>
            </a:r>
            <a:r>
              <a:rPr lang="en-US" sz="1800" b="0" i="0" u="none" strike="noStrike">
                <a:solidFill>
                  <a:srgbClr val="263750"/>
                </a:solidFill>
                <a:latin typeface="Inter"/>
                <a:ea typeface="Inter"/>
                <a:cs typeface="Inter"/>
                <a:sym typeface="Inter"/>
              </a:rPr>
              <a:t> Format raw data into a cross-domain comparison matrix.</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Compute Ratios:</a:t>
            </a:r>
            <a:r>
              <a:rPr lang="en-US" sz="1800" b="0" i="0" u="none" strike="noStrike">
                <a:solidFill>
                  <a:srgbClr val="263750"/>
                </a:solidFill>
                <a:latin typeface="Inter"/>
                <a:ea typeface="Inter"/>
                <a:cs typeface="Inter"/>
                <a:sym typeface="Inter"/>
              </a:rPr>
              <a:t> Calculate how many times "worse" the LLM is at numerical precision compared to XGBoost.</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Visualize:</a:t>
            </a:r>
            <a:r>
              <a:rPr lang="en-US" sz="1800" b="0" i="0" u="none" strike="noStrike">
                <a:solidFill>
                  <a:srgbClr val="263750"/>
                </a:solidFill>
                <a:latin typeface="Inter"/>
                <a:ea typeface="Inter"/>
                <a:cs typeface="Inter"/>
                <a:sym typeface="Inter"/>
              </a:rPr>
              <a:t> Use </a:t>
            </a:r>
            <a:r>
              <a:rPr lang="en-US" sz="1800" b="0" i="0" u="none" strike="noStrike">
                <a:solidFill>
                  <a:srgbClr val="263750"/>
                </a:solidFill>
                <a:latin typeface="Courier New"/>
                <a:ea typeface="Courier New"/>
                <a:cs typeface="Courier New"/>
                <a:sym typeface="Courier New"/>
              </a:rPr>
              <a:t>matplotlib</a:t>
            </a:r>
            <a:r>
              <a:rPr lang="en-US" sz="1800" b="0" i="0" u="none" strike="noStrike">
                <a:solidFill>
                  <a:srgbClr val="263750"/>
                </a:solidFill>
                <a:latin typeface="Inter"/>
                <a:ea typeface="Inter"/>
                <a:cs typeface="Inter"/>
                <a:sym typeface="Inter"/>
              </a:rPr>
              <a:t> to generate a 3-panel diagnostic figure.</a:t>
            </a:r>
          </a:p>
          <a:p>
            <a:pPr marL="228600" indent="-228600" algn="l">
              <a:lnSpc>
                <a:spcPct val="133333"/>
              </a:lnSpc>
              <a:buClr>
                <a:srgbClr val="263750"/>
              </a:buClr>
              <a:buChar char="•"/>
            </a:pPr>
            <a:r>
              <a:rPr lang="en-US" sz="1800" b="1" i="0" u="none" strike="noStrike">
                <a:solidFill>
                  <a:srgbClr val="263750"/>
                </a:solidFill>
                <a:latin typeface="Inter"/>
                <a:ea typeface="Inter"/>
                <a:cs typeface="Inter"/>
                <a:sym typeface="Inter"/>
              </a:rPr>
              <a:t>Conclude:</a:t>
            </a:r>
            <a:r>
              <a:rPr lang="en-US" sz="1800" b="0" i="0" u="none" strike="noStrike">
                <a:solidFill>
                  <a:srgbClr val="263750"/>
                </a:solidFill>
                <a:latin typeface="Inter"/>
                <a:ea typeface="Inter"/>
                <a:cs typeface="Inter"/>
                <a:sym typeface="Inter"/>
              </a:rPr>
              <a:t> Print a summary comparing original hypotheses to actual observations.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508000"/>
            <a:ext cx="254000" cy="508000"/>
          </a:xfrm>
          <a:prstGeom prst="roundRect">
            <a:avLst>
              <a:gd name="adj" fmla="val 0"/>
            </a:avLst>
          </a:prstGeom>
          <a:solidFill>
            <a:srgbClr val="00A3A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508000"/>
            <a:ext cx="10668000" cy="635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200" b="1" i="0" u="none" strike="noStrike">
                <a:solidFill>
                  <a:srgbClr val="FFFFFF"/>
                </a:solidFill>
                <a:latin typeface="Inter"/>
                <a:ea typeface="Inter"/>
                <a:cs typeface="Inter"/>
                <a:sym typeface="Inter"/>
              </a:rPr>
              <a:t>Key Takeaways</a:t>
            </a:r>
            <a:endParaRPr lang="en-US" sz="1100"/>
          </a:p>
        </p:txBody>
      </p:sp>
      <p:sp>
        <p:nvSpPr>
          <p:cNvPr id="5" name="AutoShape 5"/>
          <p:cNvSpPr/>
          <p:nvPr/>
        </p:nvSpPr>
        <p:spPr>
          <a:xfrm>
            <a:off x="1016000" y="1778000"/>
            <a:ext cx="10160000" cy="3810000"/>
          </a:xfrm>
          <a:prstGeom prst="roundRect">
            <a:avLst>
              <a:gd name="adj" fmla="val 4000"/>
            </a:avLst>
          </a:prstGeom>
          <a:solidFill>
            <a:srgbClr val="FFFFFF">
              <a:alpha val="10000"/>
            </a:srgbClr>
          </a:solidFill>
          <a:ln w="25400" cap="flat" cmpd="sng">
            <a:solidFill>
              <a:srgbClr val="00A3A6">
                <a:alpha val="80000"/>
              </a:srgbClr>
            </a:solidFill>
            <a:prstDash val="solid"/>
            <a:round/>
          </a:ln>
        </p:spPr>
        <p:txBody>
          <a:bodyPr vert="horz" wrap="square" lIns="508000" tIns="508000" rIns="508000" bIns="0" rtlCol="0" anchor="ctr" anchorCtr="0">
            <a:normAutofit fontScale="92500" lnSpcReduction="20000"/>
          </a:bodyPr>
          <a:lstStyle/>
          <a:p>
            <a:pPr marL="279400" indent="-279400">
              <a:lnSpc>
                <a:spcPct val="150000"/>
              </a:lnSpc>
              <a:buClr>
                <a:srgbClr val="00A3A6"/>
              </a:buClr>
              <a:buChar char="•"/>
              <a:defRPr/>
            </a:pPr>
            <a:r>
              <a:rPr lang="en-US" sz="2200" b="1" i="0" u="none" strike="noStrike" dirty="0">
                <a:solidFill>
                  <a:srgbClr val="00A3A6"/>
                </a:solidFill>
                <a:latin typeface="Inter"/>
                <a:ea typeface="Inter"/>
                <a:cs typeface="Inter"/>
                <a:sym typeface="Inter"/>
              </a:rPr>
              <a:t>Structured Pipeline:</a:t>
            </a:r>
            <a:r>
              <a:rPr lang="en-US" sz="2200" b="0" i="0" u="none" strike="noStrike" dirty="0">
                <a:solidFill>
                  <a:srgbClr val="F0F5FA"/>
                </a:solidFill>
                <a:latin typeface="Inter"/>
                <a:ea typeface="Inter"/>
                <a:cs typeface="Inter"/>
                <a:sym typeface="Inter"/>
              </a:rPr>
              <a:t> The repository is designed as a clear, sequential pipeline: Prepare </a:t>
            </a:r>
            <a:r>
              <a:rPr lang="en-US" sz="2200" dirty="0">
                <a:solidFill>
                  <a:srgbClr val="F0F5FA"/>
                </a:solidFill>
                <a:latin typeface="Inter"/>
                <a:ea typeface="Inter"/>
                <a:cs typeface="Inter"/>
                <a:sym typeface="Inter"/>
              </a:rPr>
              <a:t>-&gt;</a:t>
            </a:r>
            <a:r>
              <a:rPr lang="en-US" sz="2200" b="0" i="0" u="none" strike="noStrike" dirty="0">
                <a:solidFill>
                  <a:srgbClr val="F0F5FA"/>
                </a:solidFill>
                <a:latin typeface="Inter"/>
                <a:ea typeface="Inter"/>
                <a:cs typeface="Inter"/>
                <a:sym typeface="Inter"/>
              </a:rPr>
              <a:t> Baseline </a:t>
            </a:r>
            <a:r>
              <a:rPr lang="en-US" sz="2200" dirty="0">
                <a:solidFill>
                  <a:srgbClr val="F0F5FA"/>
                </a:solidFill>
                <a:latin typeface="Inter"/>
                <a:ea typeface="Inter"/>
                <a:cs typeface="Inter"/>
                <a:sym typeface="Inter"/>
              </a:rPr>
              <a:t>-&gt;</a:t>
            </a:r>
            <a:r>
              <a:rPr lang="en-US" sz="2200" b="0" i="0" u="none" strike="noStrike" dirty="0">
                <a:solidFill>
                  <a:srgbClr val="F0F5FA"/>
                </a:solidFill>
                <a:latin typeface="Inter"/>
                <a:ea typeface="Inter"/>
                <a:cs typeface="Inter"/>
                <a:sym typeface="Inter"/>
              </a:rPr>
              <a:t> LLMIP </a:t>
            </a:r>
            <a:r>
              <a:rPr lang="en-US" sz="2200" dirty="0">
                <a:solidFill>
                  <a:srgbClr val="F0F5FA"/>
                </a:solidFill>
                <a:latin typeface="Inter"/>
                <a:ea typeface="Inter"/>
                <a:cs typeface="Inter"/>
                <a:sym typeface="Inter"/>
              </a:rPr>
              <a:t>-&gt;</a:t>
            </a:r>
            <a:r>
              <a:rPr lang="en-US" sz="2200" b="0" i="0" u="none" strike="noStrike" dirty="0">
                <a:solidFill>
                  <a:srgbClr val="F0F5FA"/>
                </a:solidFill>
                <a:latin typeface="Inter"/>
                <a:ea typeface="Inter"/>
                <a:cs typeface="Inter"/>
                <a:sym typeface="Inter"/>
              </a:rPr>
              <a:t> Compare.</a:t>
            </a:r>
            <a:endParaRPr lang="en-US" sz="1100" dirty="0"/>
          </a:p>
          <a:p>
            <a:pPr marL="279400" indent="-279400" algn="l">
              <a:lnSpc>
                <a:spcPct val="150000"/>
              </a:lnSpc>
              <a:buClr>
                <a:srgbClr val="00A3A6"/>
              </a:buClr>
              <a:buChar char="•"/>
            </a:pPr>
            <a:r>
              <a:rPr lang="en-US" sz="2200" b="1" i="0" u="none" strike="noStrike" dirty="0">
                <a:solidFill>
                  <a:srgbClr val="00A3A6"/>
                </a:solidFill>
                <a:latin typeface="Inter"/>
                <a:ea typeface="Inter"/>
                <a:cs typeface="Inter"/>
                <a:sym typeface="Inter"/>
              </a:rPr>
              <a:t>Reasoning over Weights:</a:t>
            </a:r>
            <a:r>
              <a:rPr lang="en-US" sz="2200" b="0" i="0" u="none" strike="noStrike" dirty="0">
                <a:solidFill>
                  <a:srgbClr val="F0F5FA"/>
                </a:solidFill>
                <a:latin typeface="Inter"/>
                <a:ea typeface="Inter"/>
                <a:cs typeface="Inter"/>
                <a:sym typeface="Inter"/>
              </a:rPr>
              <a:t> LLMIP tests if "in-context learning" and "rulebooks" can substitute for traditional model weights.</a:t>
            </a:r>
          </a:p>
          <a:p>
            <a:pPr marL="279400" indent="-279400" algn="l">
              <a:lnSpc>
                <a:spcPct val="150000"/>
              </a:lnSpc>
              <a:buClr>
                <a:srgbClr val="00A3A6"/>
              </a:buClr>
              <a:buChar char="•"/>
            </a:pPr>
            <a:r>
              <a:rPr lang="en-US" sz="2200" b="1" i="0" u="none" strike="noStrike" dirty="0">
                <a:solidFill>
                  <a:srgbClr val="00A3A6"/>
                </a:solidFill>
                <a:latin typeface="Inter"/>
                <a:ea typeface="Inter"/>
                <a:cs typeface="Inter"/>
                <a:sym typeface="Inter"/>
              </a:rPr>
              <a:t>Crucial Glue Code:</a:t>
            </a:r>
            <a:r>
              <a:rPr lang="en-US" sz="2200" b="0" i="0" u="none" strike="noStrike" dirty="0">
                <a:solidFill>
                  <a:srgbClr val="F0F5FA"/>
                </a:solidFill>
                <a:latin typeface="Inter"/>
                <a:ea typeface="Inter"/>
                <a:cs typeface="Inter"/>
                <a:sym typeface="Inter"/>
              </a:rPr>
              <a:t> Parsing LLM text responses back into structured dictionaries is a critical point of failure/success.</a:t>
            </a:r>
          </a:p>
          <a:p>
            <a:pPr marL="279400" indent="-279400" algn="l">
              <a:lnSpc>
                <a:spcPct val="150000"/>
              </a:lnSpc>
              <a:buClr>
                <a:srgbClr val="00A3A6"/>
              </a:buClr>
              <a:buChar char="•"/>
            </a:pPr>
            <a:r>
              <a:rPr lang="en-US" sz="2200" b="1" i="0" u="none" strike="noStrike" dirty="0">
                <a:solidFill>
                  <a:srgbClr val="00A3A6"/>
                </a:solidFill>
                <a:latin typeface="Inter"/>
                <a:ea typeface="Inter"/>
                <a:cs typeface="Inter"/>
                <a:sym typeface="Inter"/>
              </a:rPr>
              <a:t>The Replicability Score:</a:t>
            </a:r>
            <a:r>
              <a:rPr lang="en-US" sz="2200" b="0" i="0" u="none" strike="noStrike" dirty="0">
                <a:solidFill>
                  <a:srgbClr val="F0F5FA"/>
                </a:solidFill>
                <a:latin typeface="Inter"/>
                <a:ea typeface="Inter"/>
                <a:cs typeface="Inter"/>
                <a:sym typeface="Inter"/>
              </a:rPr>
              <a:t> Introduces a novel way to measure whether </a:t>
            </a:r>
            <a:r>
              <a:rPr lang="en-US" sz="2200" dirty="0">
                <a:solidFill>
                  <a:srgbClr val="F0F5FA"/>
                </a:solidFill>
                <a:latin typeface="Inter"/>
                <a:ea typeface="Inter"/>
                <a:cs typeface="Inter"/>
                <a:sym typeface="Inter"/>
              </a:rPr>
              <a:t>LLM</a:t>
            </a:r>
            <a:r>
              <a:rPr lang="en-US" sz="2200" b="0" i="0" u="none" strike="noStrike" dirty="0">
                <a:solidFill>
                  <a:srgbClr val="F0F5FA"/>
                </a:solidFill>
                <a:latin typeface="Inter"/>
                <a:ea typeface="Inter"/>
                <a:cs typeface="Inter"/>
                <a:sym typeface="Inter"/>
              </a:rPr>
              <a:t> can consistently explain and repeat its own logic.</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1056</TotalTime>
  <Words>3134</Words>
  <Application>Microsoft Office PowerPoint</Application>
  <PresentationFormat>Widescreen</PresentationFormat>
  <Paragraphs>258</Paragraphs>
  <Slides>18</Slides>
  <Notes>18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Arial</vt:lpstr>
      <vt:lpstr>Courier New</vt:lpstr>
      <vt:lpstr>Inter</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El Yaagoubi, Sami</cp:lastModifiedBy>
  <cp:revision>10</cp:revision>
  <dcterms:modified xsi:type="dcterms:W3CDTF">2026-03-28T00:43:14Z</dcterms:modified>
</cp:coreProperties>
</file>